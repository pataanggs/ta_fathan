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erebri" charset="1" panose="00000500000000000000"/>
      <p:regular r:id="rId21"/>
    </p:embeddedFont>
    <p:embeddedFont>
      <p:font typeface="Cerebri Bold" charset="1" panose="00000800000000000000"/>
      <p:regular r:id="rId22"/>
    </p:embeddedFont>
    <p:embeddedFont>
      <p:font typeface="Cerebri Bold Italics" charset="1" panose="00000800000000000000"/>
      <p:regular r:id="rId23"/>
    </p:embeddedFont>
    <p:embeddedFont>
      <p:font typeface="Cerebri Italics"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https://mctm.web.id/resume/" TargetMode="External" Type="http://schemas.openxmlformats.org/officeDocument/2006/relationships/hyperlink"/><Relationship Id="rId5" Target="http://if.itera.ac.id/dosen-i-wayan-wiprayoga-wisesa/" TargetMode="External" Type="http://schemas.openxmlformats.org/officeDocument/2006/relationships/hyperlink"/><Relationship Id="rId6" Target="http://s.id/WonSS" TargetMode="External" Type="http://schemas.openxmlformats.org/officeDocument/2006/relationships/hyperlink"/><Relationship Id="rId7" Target="../media/image3.png" Type="http://schemas.openxmlformats.org/officeDocument/2006/relationships/image"/><Relationship Id="rId8" Target="../media/image4.svg" Type="http://schemas.openxmlformats.org/officeDocument/2006/relationships/image"/><Relationship Id="rId9"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embeddings/oleObject1.bin" Type="http://schemas.openxmlformats.org/officeDocument/2006/relationships/oleObject"/><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0.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14.png" Type="http://schemas.openxmlformats.org/officeDocument/2006/relationships/image"/><Relationship Id="rId9" Target="../embeddings/oleObject2.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7292355" y="-4793066"/>
            <a:ext cx="9648774" cy="8229600"/>
          </a:xfrm>
          <a:custGeom>
            <a:avLst/>
            <a:gdLst/>
            <a:ahLst/>
            <a:cxnLst/>
            <a:rect r="r" b="b" t="t" l="l"/>
            <a:pathLst>
              <a:path h="8229600" w="9648774">
                <a:moveTo>
                  <a:pt x="0" y="0"/>
                </a:moveTo>
                <a:lnTo>
                  <a:pt x="9648773" y="0"/>
                </a:lnTo>
                <a:lnTo>
                  <a:pt x="9648773" y="8229600"/>
                </a:lnTo>
                <a:lnTo>
                  <a:pt x="0" y="8229600"/>
                </a:lnTo>
                <a:lnTo>
                  <a:pt x="0" y="0"/>
                </a:lnTo>
                <a:close/>
              </a:path>
            </a:pathLst>
          </a:custGeom>
          <a:blipFill>
            <a:blip r:embed="rId2"/>
            <a:stretch>
              <a:fillRect l="0" t="0" r="0" b="0"/>
            </a:stretch>
          </a:blipFill>
        </p:spPr>
      </p:sp>
      <p:sp>
        <p:nvSpPr>
          <p:cNvPr name="AutoShape 3" id="3"/>
          <p:cNvSpPr/>
          <p:nvPr/>
        </p:nvSpPr>
        <p:spPr>
          <a:xfrm flipV="true">
            <a:off x="17249775" y="3436534"/>
            <a:ext cx="0" cy="3413931"/>
          </a:xfrm>
          <a:prstGeom prst="line">
            <a:avLst/>
          </a:prstGeom>
          <a:ln cap="flat" w="1905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Freeform 4" id="4"/>
          <p:cNvSpPr/>
          <p:nvPr/>
        </p:nvSpPr>
        <p:spPr>
          <a:xfrm flipH="false" flipV="false" rot="0">
            <a:off x="-6872317" y="4700951"/>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grpSp>
        <p:nvGrpSpPr>
          <p:cNvPr name="Group 5" id="5"/>
          <p:cNvGrpSpPr/>
          <p:nvPr/>
        </p:nvGrpSpPr>
        <p:grpSpPr>
          <a:xfrm rot="0">
            <a:off x="11454728" y="7021916"/>
            <a:ext cx="5804572" cy="673933"/>
            <a:chOff x="0" y="0"/>
            <a:chExt cx="7739429" cy="898577"/>
          </a:xfrm>
        </p:grpSpPr>
        <p:grpSp>
          <p:nvGrpSpPr>
            <p:cNvPr name="Group 6" id="6"/>
            <p:cNvGrpSpPr/>
            <p:nvPr/>
          </p:nvGrpSpPr>
          <p:grpSpPr>
            <a:xfrm rot="0">
              <a:off x="440956" y="0"/>
              <a:ext cx="7298474" cy="898577"/>
              <a:chOff x="0" y="0"/>
              <a:chExt cx="1441674" cy="177497"/>
            </a:xfrm>
          </p:grpSpPr>
          <p:sp>
            <p:nvSpPr>
              <p:cNvPr name="Freeform 7" id="7"/>
              <p:cNvSpPr/>
              <p:nvPr/>
            </p:nvSpPr>
            <p:spPr>
              <a:xfrm flipH="false" flipV="false" rot="0">
                <a:off x="0" y="0"/>
                <a:ext cx="1441674" cy="177497"/>
              </a:xfrm>
              <a:custGeom>
                <a:avLst/>
                <a:gdLst/>
                <a:ahLst/>
                <a:cxnLst/>
                <a:rect r="r" b="b" t="t" l="l"/>
                <a:pathLst>
                  <a:path h="177497" w="1441674">
                    <a:moveTo>
                      <a:pt x="42430" y="0"/>
                    </a:moveTo>
                    <a:lnTo>
                      <a:pt x="1399243" y="0"/>
                    </a:lnTo>
                    <a:cubicBezTo>
                      <a:pt x="1422677" y="0"/>
                      <a:pt x="1441674" y="18997"/>
                      <a:pt x="1441674" y="42430"/>
                    </a:cubicBezTo>
                    <a:lnTo>
                      <a:pt x="1441674" y="135066"/>
                    </a:lnTo>
                    <a:cubicBezTo>
                      <a:pt x="1441674" y="146320"/>
                      <a:pt x="1437203" y="157112"/>
                      <a:pt x="1429246" y="165069"/>
                    </a:cubicBezTo>
                    <a:cubicBezTo>
                      <a:pt x="1421289" y="173026"/>
                      <a:pt x="1410497" y="177497"/>
                      <a:pt x="1399243" y="177497"/>
                    </a:cubicBezTo>
                    <a:lnTo>
                      <a:pt x="42430" y="177497"/>
                    </a:lnTo>
                    <a:cubicBezTo>
                      <a:pt x="31177" y="177497"/>
                      <a:pt x="20385" y="173026"/>
                      <a:pt x="12428" y="165069"/>
                    </a:cubicBezTo>
                    <a:cubicBezTo>
                      <a:pt x="4470" y="157112"/>
                      <a:pt x="0" y="146320"/>
                      <a:pt x="0" y="135066"/>
                    </a:cubicBezTo>
                    <a:lnTo>
                      <a:pt x="0" y="42430"/>
                    </a:lnTo>
                    <a:cubicBezTo>
                      <a:pt x="0" y="18997"/>
                      <a:pt x="18997" y="0"/>
                      <a:pt x="42430"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8" id="8"/>
              <p:cNvSpPr txBox="true"/>
              <p:nvPr/>
            </p:nvSpPr>
            <p:spPr>
              <a:xfrm>
                <a:off x="0" y="-38100"/>
                <a:ext cx="1441674" cy="215597"/>
              </a:xfrm>
              <a:prstGeom prst="rect">
                <a:avLst/>
              </a:prstGeom>
            </p:spPr>
            <p:txBody>
              <a:bodyPr anchor="ctr" rtlCol="false" tIns="50800" lIns="50800" bIns="50800" rIns="50800"/>
              <a:lstStyle/>
              <a:p>
                <a:pPr algn="ctr">
                  <a:lnSpc>
                    <a:spcPts val="3359"/>
                  </a:lnSpc>
                </a:pPr>
                <a:r>
                  <a:rPr lang="en-US" sz="2400">
                    <a:solidFill>
                      <a:srgbClr val="39352C"/>
                    </a:solidFill>
                    <a:latin typeface="Cerebri"/>
                    <a:ea typeface="Cerebri"/>
                    <a:cs typeface="Cerebri"/>
                    <a:sym typeface="Cerebri"/>
                  </a:rPr>
                  <a:t>Fathan Andi Kartagama (122140055)</a:t>
                </a:r>
              </a:p>
            </p:txBody>
          </p:sp>
        </p:grpSp>
        <p:grpSp>
          <p:nvGrpSpPr>
            <p:cNvPr name="Group 9" id="9"/>
            <p:cNvGrpSpPr/>
            <p:nvPr/>
          </p:nvGrpSpPr>
          <p:grpSpPr>
            <a:xfrm rot="0">
              <a:off x="0" y="308512"/>
              <a:ext cx="281554" cy="281554"/>
              <a:chOff x="0" y="0"/>
              <a:chExt cx="55616" cy="55616"/>
            </a:xfrm>
          </p:grpSpPr>
          <p:sp>
            <p:nvSpPr>
              <p:cNvPr name="Freeform 10" id="10"/>
              <p:cNvSpPr/>
              <p:nvPr/>
            </p:nvSpPr>
            <p:spPr>
              <a:xfrm flipH="false" flipV="false" rot="0">
                <a:off x="0" y="0"/>
                <a:ext cx="55616" cy="55616"/>
              </a:xfrm>
              <a:custGeom>
                <a:avLst/>
                <a:gdLst/>
                <a:ahLst/>
                <a:cxnLst/>
                <a:rect r="r" b="b" t="t" l="l"/>
                <a:pathLst>
                  <a:path h="55616" w="55616">
                    <a:moveTo>
                      <a:pt x="0" y="0"/>
                    </a:moveTo>
                    <a:lnTo>
                      <a:pt x="55616" y="0"/>
                    </a:lnTo>
                    <a:lnTo>
                      <a:pt x="55616" y="55616"/>
                    </a:lnTo>
                    <a:lnTo>
                      <a:pt x="0" y="55616"/>
                    </a:lnTo>
                    <a:close/>
                  </a:path>
                </a:pathLst>
              </a:custGeom>
              <a:solidFill>
                <a:srgbClr val="0054C5"/>
              </a:solidFill>
            </p:spPr>
          </p:sp>
          <p:sp>
            <p:nvSpPr>
              <p:cNvPr name="TextBox 11" id="11"/>
              <p:cNvSpPr txBox="true"/>
              <p:nvPr/>
            </p:nvSpPr>
            <p:spPr>
              <a:xfrm>
                <a:off x="0" y="-38100"/>
                <a:ext cx="55616" cy="93716"/>
              </a:xfrm>
              <a:prstGeom prst="rect">
                <a:avLst/>
              </a:prstGeom>
            </p:spPr>
            <p:txBody>
              <a:bodyPr anchor="ctr" rtlCol="false" tIns="50800" lIns="50800" bIns="50800" rIns="50800"/>
              <a:lstStyle/>
              <a:p>
                <a:pPr algn="ctr">
                  <a:lnSpc>
                    <a:spcPts val="3359"/>
                  </a:lnSpc>
                </a:pPr>
              </a:p>
            </p:txBody>
          </p:sp>
        </p:grpSp>
      </p:grpSp>
      <p:sp>
        <p:nvSpPr>
          <p:cNvPr name="TextBox 12" id="12"/>
          <p:cNvSpPr txBox="true"/>
          <p:nvPr/>
        </p:nvSpPr>
        <p:spPr>
          <a:xfrm rot="0">
            <a:off x="1028700" y="2658281"/>
            <a:ext cx="6799212" cy="2222024"/>
          </a:xfrm>
          <a:prstGeom prst="rect">
            <a:avLst/>
          </a:prstGeom>
        </p:spPr>
        <p:txBody>
          <a:bodyPr anchor="t" rtlCol="false" tIns="0" lIns="0" bIns="0" rIns="0">
            <a:spAutoFit/>
          </a:bodyPr>
          <a:lstStyle/>
          <a:p>
            <a:pPr algn="l">
              <a:lnSpc>
                <a:spcPts val="18226"/>
              </a:lnSpc>
              <a:spcBef>
                <a:spcPct val="0"/>
              </a:spcBef>
            </a:pPr>
            <a:r>
              <a:rPr lang="en-US" b="true" sz="13018">
                <a:solidFill>
                  <a:srgbClr val="39352C"/>
                </a:solidFill>
                <a:latin typeface="Cerebri Bold"/>
                <a:ea typeface="Cerebri Bold"/>
                <a:cs typeface="Cerebri Bold"/>
                <a:sym typeface="Cerebri Bold"/>
              </a:rPr>
              <a:t>Seminar</a:t>
            </a:r>
          </a:p>
        </p:txBody>
      </p:sp>
      <p:sp>
        <p:nvSpPr>
          <p:cNvPr name="TextBox 13" id="13"/>
          <p:cNvSpPr txBox="true"/>
          <p:nvPr/>
        </p:nvSpPr>
        <p:spPr>
          <a:xfrm rot="0">
            <a:off x="2344788" y="4651706"/>
            <a:ext cx="6799212" cy="2057400"/>
          </a:xfrm>
          <a:prstGeom prst="rect">
            <a:avLst/>
          </a:prstGeom>
        </p:spPr>
        <p:txBody>
          <a:bodyPr anchor="t" rtlCol="false" tIns="0" lIns="0" bIns="0" rIns="0">
            <a:spAutoFit/>
          </a:bodyPr>
          <a:lstStyle/>
          <a:p>
            <a:pPr algn="l">
              <a:lnSpc>
                <a:spcPts val="16800"/>
              </a:lnSpc>
              <a:spcBef>
                <a:spcPct val="0"/>
              </a:spcBef>
            </a:pPr>
            <a:r>
              <a:rPr lang="en-US" b="true" sz="12000">
                <a:solidFill>
                  <a:srgbClr val="39352C"/>
                </a:solidFill>
                <a:latin typeface="Cerebri Bold"/>
                <a:ea typeface="Cerebri Bold"/>
                <a:cs typeface="Cerebri Bold"/>
                <a:sym typeface="Cerebri Bold"/>
              </a:rPr>
              <a:t>Proposal</a:t>
            </a:r>
          </a:p>
        </p:txBody>
      </p:sp>
      <p:sp>
        <p:nvSpPr>
          <p:cNvPr name="TextBox 14" id="14"/>
          <p:cNvSpPr txBox="true"/>
          <p:nvPr/>
        </p:nvSpPr>
        <p:spPr>
          <a:xfrm rot="0">
            <a:off x="9144000" y="3542996"/>
            <a:ext cx="7797128" cy="3166110"/>
          </a:xfrm>
          <a:prstGeom prst="rect">
            <a:avLst/>
          </a:prstGeom>
        </p:spPr>
        <p:txBody>
          <a:bodyPr anchor="t" rtlCol="false" tIns="0" lIns="0" bIns="0" rIns="0">
            <a:spAutoFit/>
          </a:bodyPr>
          <a:lstStyle/>
          <a:p>
            <a:pPr algn="r">
              <a:lnSpc>
                <a:spcPts val="5040"/>
              </a:lnSpc>
              <a:spcBef>
                <a:spcPct val="0"/>
              </a:spcBef>
            </a:pPr>
            <a:r>
              <a:rPr lang="en-US" b="true" sz="3600" spc="107">
                <a:solidFill>
                  <a:srgbClr val="0054C5"/>
                </a:solidFill>
                <a:latin typeface="Cerebri Bold"/>
                <a:ea typeface="Cerebri Bold"/>
                <a:cs typeface="Cerebri Bold"/>
                <a:sym typeface="Cerebri Bold"/>
              </a:rPr>
              <a:t>IMPLEMENTASI FINE-TUNING OPENAI WHISPER BASE UNTUK AUTOMATIC SPEECH RECOGNITION BAHASA MINANGKABAU</a:t>
            </a:r>
          </a:p>
        </p:txBody>
      </p:sp>
      <p:grpSp>
        <p:nvGrpSpPr>
          <p:cNvPr name="Group 15" id="15"/>
          <p:cNvGrpSpPr/>
          <p:nvPr/>
        </p:nvGrpSpPr>
        <p:grpSpPr>
          <a:xfrm rot="0">
            <a:off x="7015611" y="9392657"/>
            <a:ext cx="4256779" cy="673933"/>
            <a:chOff x="0" y="0"/>
            <a:chExt cx="5675705" cy="898577"/>
          </a:xfrm>
        </p:grpSpPr>
        <p:grpSp>
          <p:nvGrpSpPr>
            <p:cNvPr name="Group 16" id="16"/>
            <p:cNvGrpSpPr/>
            <p:nvPr/>
          </p:nvGrpSpPr>
          <p:grpSpPr>
            <a:xfrm rot="0">
              <a:off x="313150" y="0"/>
              <a:ext cx="5362555" cy="898577"/>
              <a:chOff x="0" y="0"/>
              <a:chExt cx="1059270" cy="177497"/>
            </a:xfrm>
          </p:grpSpPr>
          <p:sp>
            <p:nvSpPr>
              <p:cNvPr name="Freeform 17" id="17"/>
              <p:cNvSpPr/>
              <p:nvPr/>
            </p:nvSpPr>
            <p:spPr>
              <a:xfrm flipH="false" flipV="false" rot="0">
                <a:off x="0" y="0"/>
                <a:ext cx="1059270" cy="177497"/>
              </a:xfrm>
              <a:custGeom>
                <a:avLst/>
                <a:gdLst/>
                <a:ahLst/>
                <a:cxnLst/>
                <a:rect r="r" b="b" t="t" l="l"/>
                <a:pathLst>
                  <a:path h="177497" w="1059270">
                    <a:moveTo>
                      <a:pt x="57748" y="0"/>
                    </a:moveTo>
                    <a:lnTo>
                      <a:pt x="1001522" y="0"/>
                    </a:lnTo>
                    <a:cubicBezTo>
                      <a:pt x="1016838" y="0"/>
                      <a:pt x="1031526" y="6084"/>
                      <a:pt x="1042356" y="16914"/>
                    </a:cubicBezTo>
                    <a:cubicBezTo>
                      <a:pt x="1053186" y="27744"/>
                      <a:pt x="1059270" y="42432"/>
                      <a:pt x="1059270" y="57748"/>
                    </a:cubicBezTo>
                    <a:lnTo>
                      <a:pt x="1059270" y="119749"/>
                    </a:lnTo>
                    <a:cubicBezTo>
                      <a:pt x="1059270" y="135064"/>
                      <a:pt x="1053186" y="149753"/>
                      <a:pt x="1042356" y="160583"/>
                    </a:cubicBezTo>
                    <a:cubicBezTo>
                      <a:pt x="1031526" y="171413"/>
                      <a:pt x="1016838" y="177497"/>
                      <a:pt x="1001522" y="177497"/>
                    </a:cubicBezTo>
                    <a:lnTo>
                      <a:pt x="57748" y="177497"/>
                    </a:lnTo>
                    <a:cubicBezTo>
                      <a:pt x="42432" y="177497"/>
                      <a:pt x="27744" y="171413"/>
                      <a:pt x="16914" y="160583"/>
                    </a:cubicBezTo>
                    <a:cubicBezTo>
                      <a:pt x="6084" y="149753"/>
                      <a:pt x="0" y="135064"/>
                      <a:pt x="0" y="119749"/>
                    </a:cubicBezTo>
                    <a:lnTo>
                      <a:pt x="0" y="57748"/>
                    </a:lnTo>
                    <a:cubicBezTo>
                      <a:pt x="0" y="42432"/>
                      <a:pt x="6084" y="27744"/>
                      <a:pt x="16914" y="16914"/>
                    </a:cubicBezTo>
                    <a:cubicBezTo>
                      <a:pt x="27744" y="6084"/>
                      <a:pt x="42432" y="0"/>
                      <a:pt x="57748"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18" id="18"/>
              <p:cNvSpPr txBox="true"/>
              <p:nvPr/>
            </p:nvSpPr>
            <p:spPr>
              <a:xfrm>
                <a:off x="0" y="-38100"/>
                <a:ext cx="1059270" cy="215597"/>
              </a:xfrm>
              <a:prstGeom prst="rect">
                <a:avLst/>
              </a:prstGeom>
            </p:spPr>
            <p:txBody>
              <a:bodyPr anchor="ctr" rtlCol="false" tIns="50800" lIns="50800" bIns="50800" rIns="50800"/>
              <a:lstStyle/>
              <a:p>
                <a:pPr algn="ctr">
                  <a:lnSpc>
                    <a:spcPts val="2239"/>
                  </a:lnSpc>
                </a:pPr>
                <a:r>
                  <a:rPr lang="en-US" sz="1599" u="sng">
                    <a:solidFill>
                      <a:srgbClr val="39352C"/>
                    </a:solidFill>
                    <a:latin typeface="Cerebri"/>
                    <a:ea typeface="Cerebri"/>
                    <a:cs typeface="Cerebri"/>
                    <a:sym typeface="Cerebri"/>
                    <a:hlinkClick r:id="rId4" tooltip="https://mctm.web.id/resume/"/>
                  </a:rPr>
                  <a:t>Martin C.T. Manullang, Ph.D.</a:t>
                </a:r>
              </a:p>
            </p:txBody>
          </p:sp>
        </p:grpSp>
        <p:grpSp>
          <p:nvGrpSpPr>
            <p:cNvPr name="Group 19" id="19"/>
            <p:cNvGrpSpPr/>
            <p:nvPr/>
          </p:nvGrpSpPr>
          <p:grpSpPr>
            <a:xfrm rot="0">
              <a:off x="0" y="61344"/>
              <a:ext cx="199949" cy="281554"/>
              <a:chOff x="0" y="0"/>
              <a:chExt cx="39496" cy="55616"/>
            </a:xfrm>
          </p:grpSpPr>
          <p:sp>
            <p:nvSpPr>
              <p:cNvPr name="Freeform 20" id="20"/>
              <p:cNvSpPr/>
              <p:nvPr/>
            </p:nvSpPr>
            <p:spPr>
              <a:xfrm flipH="false" flipV="false" rot="0">
                <a:off x="0" y="0"/>
                <a:ext cx="39496" cy="55616"/>
              </a:xfrm>
              <a:custGeom>
                <a:avLst/>
                <a:gdLst/>
                <a:ahLst/>
                <a:cxnLst/>
                <a:rect r="r" b="b" t="t" l="l"/>
                <a:pathLst>
                  <a:path h="55616" w="39496">
                    <a:moveTo>
                      <a:pt x="0" y="0"/>
                    </a:moveTo>
                    <a:lnTo>
                      <a:pt x="39496" y="0"/>
                    </a:lnTo>
                    <a:lnTo>
                      <a:pt x="39496" y="55616"/>
                    </a:lnTo>
                    <a:lnTo>
                      <a:pt x="0" y="55616"/>
                    </a:lnTo>
                    <a:close/>
                  </a:path>
                </a:pathLst>
              </a:custGeom>
              <a:solidFill>
                <a:srgbClr val="0054C5"/>
              </a:solidFill>
            </p:spPr>
          </p:sp>
          <p:sp>
            <p:nvSpPr>
              <p:cNvPr name="TextBox 21" id="21"/>
              <p:cNvSpPr txBox="true"/>
              <p:nvPr/>
            </p:nvSpPr>
            <p:spPr>
              <a:xfrm>
                <a:off x="0" y="-38100"/>
                <a:ext cx="39496" cy="93716"/>
              </a:xfrm>
              <a:prstGeom prst="rect">
                <a:avLst/>
              </a:prstGeom>
            </p:spPr>
            <p:txBody>
              <a:bodyPr anchor="ctr" rtlCol="false" tIns="50800" lIns="50800" bIns="50800" rIns="50800"/>
              <a:lstStyle/>
              <a:p>
                <a:pPr algn="ctr">
                  <a:lnSpc>
                    <a:spcPts val="3359"/>
                  </a:lnSpc>
                </a:pPr>
              </a:p>
            </p:txBody>
          </p:sp>
        </p:grpSp>
      </p:grpSp>
      <p:grpSp>
        <p:nvGrpSpPr>
          <p:cNvPr name="Group 22" id="22"/>
          <p:cNvGrpSpPr/>
          <p:nvPr/>
        </p:nvGrpSpPr>
        <p:grpSpPr>
          <a:xfrm rot="0">
            <a:off x="2240952" y="9392657"/>
            <a:ext cx="4393659" cy="673933"/>
            <a:chOff x="0" y="0"/>
            <a:chExt cx="5858211" cy="898577"/>
          </a:xfrm>
        </p:grpSpPr>
        <p:grpSp>
          <p:nvGrpSpPr>
            <p:cNvPr name="Group 23" id="23"/>
            <p:cNvGrpSpPr/>
            <p:nvPr/>
          </p:nvGrpSpPr>
          <p:grpSpPr>
            <a:xfrm rot="0">
              <a:off x="313150" y="0"/>
              <a:ext cx="5545062" cy="898577"/>
              <a:chOff x="0" y="0"/>
              <a:chExt cx="1095321" cy="177497"/>
            </a:xfrm>
          </p:grpSpPr>
          <p:sp>
            <p:nvSpPr>
              <p:cNvPr name="Freeform 24" id="24"/>
              <p:cNvSpPr/>
              <p:nvPr/>
            </p:nvSpPr>
            <p:spPr>
              <a:xfrm flipH="false" flipV="false" rot="0">
                <a:off x="0" y="0"/>
                <a:ext cx="1095321" cy="177497"/>
              </a:xfrm>
              <a:custGeom>
                <a:avLst/>
                <a:gdLst/>
                <a:ahLst/>
                <a:cxnLst/>
                <a:rect r="r" b="b" t="t" l="l"/>
                <a:pathLst>
                  <a:path h="177497" w="1095321">
                    <a:moveTo>
                      <a:pt x="55847" y="0"/>
                    </a:moveTo>
                    <a:lnTo>
                      <a:pt x="1039474" y="0"/>
                    </a:lnTo>
                    <a:cubicBezTo>
                      <a:pt x="1054285" y="0"/>
                      <a:pt x="1068490" y="5884"/>
                      <a:pt x="1078964" y="16357"/>
                    </a:cubicBezTo>
                    <a:cubicBezTo>
                      <a:pt x="1089437" y="26831"/>
                      <a:pt x="1095321" y="41036"/>
                      <a:pt x="1095321" y="55847"/>
                    </a:cubicBezTo>
                    <a:lnTo>
                      <a:pt x="1095321" y="121649"/>
                    </a:lnTo>
                    <a:cubicBezTo>
                      <a:pt x="1095321" y="136461"/>
                      <a:pt x="1089437" y="150666"/>
                      <a:pt x="1078964" y="161139"/>
                    </a:cubicBezTo>
                    <a:cubicBezTo>
                      <a:pt x="1068490" y="171613"/>
                      <a:pt x="1054285" y="177497"/>
                      <a:pt x="1039474" y="177497"/>
                    </a:cubicBezTo>
                    <a:lnTo>
                      <a:pt x="55847" y="177497"/>
                    </a:lnTo>
                    <a:cubicBezTo>
                      <a:pt x="41036" y="177497"/>
                      <a:pt x="26831" y="171613"/>
                      <a:pt x="16357" y="161139"/>
                    </a:cubicBezTo>
                    <a:cubicBezTo>
                      <a:pt x="5884" y="150666"/>
                      <a:pt x="0" y="136461"/>
                      <a:pt x="0" y="121649"/>
                    </a:cubicBezTo>
                    <a:lnTo>
                      <a:pt x="0" y="55847"/>
                    </a:lnTo>
                    <a:cubicBezTo>
                      <a:pt x="0" y="41036"/>
                      <a:pt x="5884" y="26831"/>
                      <a:pt x="16357" y="16357"/>
                    </a:cubicBezTo>
                    <a:cubicBezTo>
                      <a:pt x="26831" y="5884"/>
                      <a:pt x="41036" y="0"/>
                      <a:pt x="55847"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25" id="25"/>
              <p:cNvSpPr txBox="true"/>
              <p:nvPr/>
            </p:nvSpPr>
            <p:spPr>
              <a:xfrm>
                <a:off x="0" y="-38100"/>
                <a:ext cx="1095321" cy="215597"/>
              </a:xfrm>
              <a:prstGeom prst="rect">
                <a:avLst/>
              </a:prstGeom>
            </p:spPr>
            <p:txBody>
              <a:bodyPr anchor="ctr" rtlCol="false" tIns="50800" lIns="50800" bIns="50800" rIns="50800"/>
              <a:lstStyle/>
              <a:p>
                <a:pPr algn="ctr">
                  <a:lnSpc>
                    <a:spcPts val="2239"/>
                  </a:lnSpc>
                </a:pPr>
                <a:r>
                  <a:rPr lang="en-US" sz="1599" u="sng">
                    <a:solidFill>
                      <a:srgbClr val="39352C"/>
                    </a:solidFill>
                    <a:latin typeface="Cerebri"/>
                    <a:ea typeface="Cerebri"/>
                    <a:cs typeface="Cerebri"/>
                    <a:sym typeface="Cerebri"/>
                    <a:hlinkClick r:id="rId5" tooltip="http://if.itera.ac.id/dosen-i-wayan-wiprayoga-wisesa/"/>
                  </a:rPr>
                  <a:t>I Wayan Wiprayoga Wisesa S.Kom., M.Kom</a:t>
                </a:r>
              </a:p>
            </p:txBody>
          </p:sp>
        </p:grpSp>
        <p:grpSp>
          <p:nvGrpSpPr>
            <p:cNvPr name="Group 26" id="26"/>
            <p:cNvGrpSpPr/>
            <p:nvPr/>
          </p:nvGrpSpPr>
          <p:grpSpPr>
            <a:xfrm rot="0">
              <a:off x="0" y="25162"/>
              <a:ext cx="199949" cy="281554"/>
              <a:chOff x="0" y="0"/>
              <a:chExt cx="39496" cy="55616"/>
            </a:xfrm>
          </p:grpSpPr>
          <p:sp>
            <p:nvSpPr>
              <p:cNvPr name="Freeform 27" id="27"/>
              <p:cNvSpPr/>
              <p:nvPr/>
            </p:nvSpPr>
            <p:spPr>
              <a:xfrm flipH="false" flipV="false" rot="0">
                <a:off x="0" y="0"/>
                <a:ext cx="39496" cy="55616"/>
              </a:xfrm>
              <a:custGeom>
                <a:avLst/>
                <a:gdLst/>
                <a:ahLst/>
                <a:cxnLst/>
                <a:rect r="r" b="b" t="t" l="l"/>
                <a:pathLst>
                  <a:path h="55616" w="39496">
                    <a:moveTo>
                      <a:pt x="0" y="0"/>
                    </a:moveTo>
                    <a:lnTo>
                      <a:pt x="39496" y="0"/>
                    </a:lnTo>
                    <a:lnTo>
                      <a:pt x="39496" y="55616"/>
                    </a:lnTo>
                    <a:lnTo>
                      <a:pt x="0" y="55616"/>
                    </a:lnTo>
                    <a:close/>
                  </a:path>
                </a:pathLst>
              </a:custGeom>
              <a:solidFill>
                <a:srgbClr val="FFDE59"/>
              </a:solidFill>
            </p:spPr>
          </p:sp>
          <p:sp>
            <p:nvSpPr>
              <p:cNvPr name="TextBox 28" id="28"/>
              <p:cNvSpPr txBox="true"/>
              <p:nvPr/>
            </p:nvSpPr>
            <p:spPr>
              <a:xfrm>
                <a:off x="0" y="-38100"/>
                <a:ext cx="39496" cy="93716"/>
              </a:xfrm>
              <a:prstGeom prst="rect">
                <a:avLst/>
              </a:prstGeom>
            </p:spPr>
            <p:txBody>
              <a:bodyPr anchor="ctr" rtlCol="false" tIns="50800" lIns="50800" bIns="50800" rIns="50800"/>
              <a:lstStyle/>
              <a:p>
                <a:pPr algn="ctr">
                  <a:lnSpc>
                    <a:spcPts val="3359"/>
                  </a:lnSpc>
                </a:pPr>
              </a:p>
            </p:txBody>
          </p:sp>
        </p:grpSp>
      </p:grpSp>
      <p:grpSp>
        <p:nvGrpSpPr>
          <p:cNvPr name="Group 29" id="29"/>
          <p:cNvGrpSpPr/>
          <p:nvPr/>
        </p:nvGrpSpPr>
        <p:grpSpPr>
          <a:xfrm rot="0">
            <a:off x="11649581" y="9338384"/>
            <a:ext cx="4330483" cy="728206"/>
            <a:chOff x="0" y="0"/>
            <a:chExt cx="5773978" cy="970941"/>
          </a:xfrm>
        </p:grpSpPr>
        <p:grpSp>
          <p:nvGrpSpPr>
            <p:cNvPr name="Group 30" id="30"/>
            <p:cNvGrpSpPr/>
            <p:nvPr/>
          </p:nvGrpSpPr>
          <p:grpSpPr>
            <a:xfrm rot="0">
              <a:off x="313150" y="0"/>
              <a:ext cx="5460828" cy="970941"/>
              <a:chOff x="0" y="0"/>
              <a:chExt cx="1078682" cy="191791"/>
            </a:xfrm>
          </p:grpSpPr>
          <p:sp>
            <p:nvSpPr>
              <p:cNvPr name="Freeform 31" id="31"/>
              <p:cNvSpPr/>
              <p:nvPr/>
            </p:nvSpPr>
            <p:spPr>
              <a:xfrm flipH="false" flipV="false" rot="0">
                <a:off x="0" y="0"/>
                <a:ext cx="1078682" cy="191791"/>
              </a:xfrm>
              <a:custGeom>
                <a:avLst/>
                <a:gdLst/>
                <a:ahLst/>
                <a:cxnLst/>
                <a:rect r="r" b="b" t="t" l="l"/>
                <a:pathLst>
                  <a:path h="191791" w="1078682">
                    <a:moveTo>
                      <a:pt x="56709" y="0"/>
                    </a:moveTo>
                    <a:lnTo>
                      <a:pt x="1021973" y="0"/>
                    </a:lnTo>
                    <a:cubicBezTo>
                      <a:pt x="1053293" y="0"/>
                      <a:pt x="1078682" y="25389"/>
                      <a:pt x="1078682" y="56709"/>
                    </a:cubicBezTo>
                    <a:lnTo>
                      <a:pt x="1078682" y="135082"/>
                    </a:lnTo>
                    <a:cubicBezTo>
                      <a:pt x="1078682" y="150122"/>
                      <a:pt x="1072707" y="164546"/>
                      <a:pt x="1062072" y="175181"/>
                    </a:cubicBezTo>
                    <a:cubicBezTo>
                      <a:pt x="1051438" y="185816"/>
                      <a:pt x="1037013" y="191791"/>
                      <a:pt x="1021973" y="191791"/>
                    </a:cubicBezTo>
                    <a:lnTo>
                      <a:pt x="56709" y="191791"/>
                    </a:lnTo>
                    <a:cubicBezTo>
                      <a:pt x="25389" y="191791"/>
                      <a:pt x="0" y="166402"/>
                      <a:pt x="0" y="135082"/>
                    </a:cubicBezTo>
                    <a:lnTo>
                      <a:pt x="0" y="56709"/>
                    </a:lnTo>
                    <a:cubicBezTo>
                      <a:pt x="0" y="25389"/>
                      <a:pt x="25389" y="0"/>
                      <a:pt x="56709"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32" id="32"/>
              <p:cNvSpPr txBox="true"/>
              <p:nvPr/>
            </p:nvSpPr>
            <p:spPr>
              <a:xfrm>
                <a:off x="0" y="-38100"/>
                <a:ext cx="1078682" cy="229891"/>
              </a:xfrm>
              <a:prstGeom prst="rect">
                <a:avLst/>
              </a:prstGeom>
            </p:spPr>
            <p:txBody>
              <a:bodyPr anchor="ctr" rtlCol="false" tIns="50800" lIns="50800" bIns="50800" rIns="50800"/>
              <a:lstStyle/>
              <a:p>
                <a:pPr algn="ctr">
                  <a:lnSpc>
                    <a:spcPts val="2239"/>
                  </a:lnSpc>
                </a:pPr>
                <a:r>
                  <a:rPr lang="en-US" sz="1599" u="sng">
                    <a:solidFill>
                      <a:srgbClr val="39352C"/>
                    </a:solidFill>
                    <a:latin typeface="Cerebri"/>
                    <a:ea typeface="Cerebri"/>
                    <a:cs typeface="Cerebri"/>
                    <a:sym typeface="Cerebri"/>
                    <a:hlinkClick r:id="rId6" tooltip="http://s.id/WonSS"/>
                  </a:rPr>
                  <a:t>Prof. Sarwono Sutikno, Dr,Eng., CISA, CISSP, CISM, CSX-F, IIAP, CC</a:t>
                </a:r>
              </a:p>
            </p:txBody>
          </p:sp>
        </p:grpSp>
        <p:grpSp>
          <p:nvGrpSpPr>
            <p:cNvPr name="Group 33" id="33"/>
            <p:cNvGrpSpPr/>
            <p:nvPr/>
          </p:nvGrpSpPr>
          <p:grpSpPr>
            <a:xfrm rot="0">
              <a:off x="0" y="61344"/>
              <a:ext cx="199949" cy="281554"/>
              <a:chOff x="0" y="0"/>
              <a:chExt cx="39496" cy="55616"/>
            </a:xfrm>
          </p:grpSpPr>
          <p:sp>
            <p:nvSpPr>
              <p:cNvPr name="Freeform 34" id="34"/>
              <p:cNvSpPr/>
              <p:nvPr/>
            </p:nvSpPr>
            <p:spPr>
              <a:xfrm flipH="false" flipV="false" rot="0">
                <a:off x="0" y="0"/>
                <a:ext cx="39496" cy="55616"/>
              </a:xfrm>
              <a:custGeom>
                <a:avLst/>
                <a:gdLst/>
                <a:ahLst/>
                <a:cxnLst/>
                <a:rect r="r" b="b" t="t" l="l"/>
                <a:pathLst>
                  <a:path h="55616" w="39496">
                    <a:moveTo>
                      <a:pt x="0" y="0"/>
                    </a:moveTo>
                    <a:lnTo>
                      <a:pt x="39496" y="0"/>
                    </a:lnTo>
                    <a:lnTo>
                      <a:pt x="39496" y="55616"/>
                    </a:lnTo>
                    <a:lnTo>
                      <a:pt x="0" y="55616"/>
                    </a:lnTo>
                    <a:close/>
                  </a:path>
                </a:pathLst>
              </a:custGeom>
              <a:solidFill>
                <a:srgbClr val="FFDE59"/>
              </a:solidFill>
            </p:spPr>
          </p:sp>
          <p:sp>
            <p:nvSpPr>
              <p:cNvPr name="TextBox 35" id="35"/>
              <p:cNvSpPr txBox="true"/>
              <p:nvPr/>
            </p:nvSpPr>
            <p:spPr>
              <a:xfrm>
                <a:off x="0" y="-38100"/>
                <a:ext cx="39496" cy="93716"/>
              </a:xfrm>
              <a:prstGeom prst="rect">
                <a:avLst/>
              </a:prstGeom>
            </p:spPr>
            <p:txBody>
              <a:bodyPr anchor="ctr" rtlCol="false" tIns="50800" lIns="50800" bIns="50800" rIns="50800"/>
              <a:lstStyle/>
              <a:p>
                <a:pPr algn="ctr">
                  <a:lnSpc>
                    <a:spcPts val="3359"/>
                  </a:lnSpc>
                </a:pPr>
              </a:p>
            </p:txBody>
          </p:sp>
        </p:grpSp>
      </p:grpSp>
      <p:sp>
        <p:nvSpPr>
          <p:cNvPr name="TextBox 36" id="36"/>
          <p:cNvSpPr txBox="true"/>
          <p:nvPr/>
        </p:nvSpPr>
        <p:spPr>
          <a:xfrm rot="0">
            <a:off x="3667931" y="8928431"/>
            <a:ext cx="1539701" cy="339725"/>
          </a:xfrm>
          <a:prstGeom prst="rect">
            <a:avLst/>
          </a:prstGeom>
        </p:spPr>
        <p:txBody>
          <a:bodyPr anchor="t" rtlCol="false" tIns="0" lIns="0" bIns="0" rIns="0">
            <a:spAutoFit/>
          </a:bodyPr>
          <a:lstStyle/>
          <a:p>
            <a:pPr algn="ctr">
              <a:lnSpc>
                <a:spcPts val="2800"/>
              </a:lnSpc>
              <a:spcBef>
                <a:spcPct val="0"/>
              </a:spcBef>
            </a:pPr>
            <a:r>
              <a:rPr lang="en-US" sz="2000" spc="60">
                <a:solidFill>
                  <a:srgbClr val="39352C"/>
                </a:solidFill>
                <a:latin typeface="Cerebri"/>
                <a:ea typeface="Cerebri"/>
                <a:cs typeface="Cerebri"/>
                <a:sym typeface="Cerebri"/>
              </a:rPr>
              <a:t>PENGUJI 1</a:t>
            </a:r>
          </a:p>
        </p:txBody>
      </p:sp>
      <p:sp>
        <p:nvSpPr>
          <p:cNvPr name="TextBox 37" id="37"/>
          <p:cNvSpPr txBox="true"/>
          <p:nvPr/>
        </p:nvSpPr>
        <p:spPr>
          <a:xfrm rot="0">
            <a:off x="8226741" y="8928431"/>
            <a:ext cx="1834519" cy="339725"/>
          </a:xfrm>
          <a:prstGeom prst="rect">
            <a:avLst/>
          </a:prstGeom>
        </p:spPr>
        <p:txBody>
          <a:bodyPr anchor="t" rtlCol="false" tIns="0" lIns="0" bIns="0" rIns="0">
            <a:spAutoFit/>
          </a:bodyPr>
          <a:lstStyle/>
          <a:p>
            <a:pPr algn="ctr">
              <a:lnSpc>
                <a:spcPts val="2800"/>
              </a:lnSpc>
              <a:spcBef>
                <a:spcPct val="0"/>
              </a:spcBef>
            </a:pPr>
            <a:r>
              <a:rPr lang="en-US" sz="2000" spc="60">
                <a:solidFill>
                  <a:srgbClr val="39352C"/>
                </a:solidFill>
                <a:latin typeface="Cerebri"/>
                <a:ea typeface="Cerebri"/>
                <a:cs typeface="Cerebri"/>
                <a:sym typeface="Cerebri"/>
              </a:rPr>
              <a:t>PEMBIMBING</a:t>
            </a:r>
          </a:p>
        </p:txBody>
      </p:sp>
      <p:sp>
        <p:nvSpPr>
          <p:cNvPr name="TextBox 38" id="38"/>
          <p:cNvSpPr txBox="true"/>
          <p:nvPr/>
        </p:nvSpPr>
        <p:spPr>
          <a:xfrm rot="0">
            <a:off x="13044972" y="8895998"/>
            <a:ext cx="1539701" cy="339725"/>
          </a:xfrm>
          <a:prstGeom prst="rect">
            <a:avLst/>
          </a:prstGeom>
        </p:spPr>
        <p:txBody>
          <a:bodyPr anchor="t" rtlCol="false" tIns="0" lIns="0" bIns="0" rIns="0">
            <a:spAutoFit/>
          </a:bodyPr>
          <a:lstStyle/>
          <a:p>
            <a:pPr algn="ctr">
              <a:lnSpc>
                <a:spcPts val="2800"/>
              </a:lnSpc>
              <a:spcBef>
                <a:spcPct val="0"/>
              </a:spcBef>
            </a:pPr>
            <a:r>
              <a:rPr lang="en-US" sz="2000" spc="60">
                <a:solidFill>
                  <a:srgbClr val="39352C"/>
                </a:solidFill>
                <a:latin typeface="Cerebri"/>
                <a:ea typeface="Cerebri"/>
                <a:cs typeface="Cerebri"/>
                <a:sym typeface="Cerebri"/>
              </a:rPr>
              <a:t>PENGUJI 2</a:t>
            </a:r>
          </a:p>
        </p:txBody>
      </p:sp>
      <p:grpSp>
        <p:nvGrpSpPr>
          <p:cNvPr name="Group 39" id="39"/>
          <p:cNvGrpSpPr/>
          <p:nvPr/>
        </p:nvGrpSpPr>
        <p:grpSpPr>
          <a:xfrm rot="0">
            <a:off x="1028700" y="0"/>
            <a:ext cx="16230600" cy="1205443"/>
            <a:chOff x="0" y="0"/>
            <a:chExt cx="21640800" cy="1607257"/>
          </a:xfrm>
        </p:grpSpPr>
        <p:sp>
          <p:nvSpPr>
            <p:cNvPr name="AutoShape 40" id="40"/>
            <p:cNvSpPr/>
            <p:nvPr/>
          </p:nvSpPr>
          <p:spPr>
            <a:xfrm>
              <a:off x="4131137" y="841114"/>
              <a:ext cx="13915256" cy="0"/>
            </a:xfrm>
            <a:prstGeom prst="line">
              <a:avLst/>
            </a:prstGeom>
            <a:ln cap="flat" w="26151">
              <a:solidFill>
                <a:srgbClr val="39352C"/>
              </a:solidFill>
              <a:prstDash val="solid"/>
              <a:headEnd type="none" len="sm" w="sm"/>
              <a:tailEnd type="none" len="sm" w="sm"/>
            </a:ln>
          </p:spPr>
        </p:sp>
        <p:sp>
          <p:nvSpPr>
            <p:cNvPr name="TextBox 41" id="41"/>
            <p:cNvSpPr txBox="true"/>
            <p:nvPr/>
          </p:nvSpPr>
          <p:spPr>
            <a:xfrm rot="0">
              <a:off x="18046393" y="601930"/>
              <a:ext cx="3594407" cy="440267"/>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42" id="42"/>
            <p:cNvSpPr txBox="true"/>
            <p:nvPr/>
          </p:nvSpPr>
          <p:spPr>
            <a:xfrm rot="0">
              <a:off x="0" y="601930"/>
              <a:ext cx="4131137" cy="440266"/>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
          <p:nvSpPr>
            <p:cNvPr name="Freeform 43" id="43"/>
            <p:cNvSpPr/>
            <p:nvPr/>
          </p:nvSpPr>
          <p:spPr>
            <a:xfrm flipH="false" flipV="false" rot="0">
              <a:off x="7560541" y="0"/>
              <a:ext cx="4073693" cy="1607257"/>
            </a:xfrm>
            <a:custGeom>
              <a:avLst/>
              <a:gdLst/>
              <a:ahLst/>
              <a:cxnLst/>
              <a:rect r="r" b="b" t="t" l="l"/>
              <a:pathLst>
                <a:path h="1607257" w="4073693">
                  <a:moveTo>
                    <a:pt x="0" y="0"/>
                  </a:moveTo>
                  <a:lnTo>
                    <a:pt x="4073693" y="0"/>
                  </a:lnTo>
                  <a:lnTo>
                    <a:pt x="4073693" y="1607257"/>
                  </a:lnTo>
                  <a:lnTo>
                    <a:pt x="0" y="1607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4" id="44"/>
            <p:cNvSpPr/>
            <p:nvPr/>
          </p:nvSpPr>
          <p:spPr>
            <a:xfrm flipH="false" flipV="false" rot="0">
              <a:off x="8838746"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9"/>
              <a:stretch>
                <a:fillRect l="0" t="0" r="0" b="0"/>
              </a:stretch>
            </a:blipFill>
          </p:spPr>
        </p:sp>
        <p:sp>
          <p:nvSpPr>
            <p:cNvPr name="Freeform 45" id="45"/>
            <p:cNvSpPr/>
            <p:nvPr/>
          </p:nvSpPr>
          <p:spPr>
            <a:xfrm flipH="false" flipV="false" rot="0">
              <a:off x="9597387"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10"/>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1697909" y="-5120016"/>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6522296" y="8223851"/>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grpSp>
        <p:nvGrpSpPr>
          <p:cNvPr name="Group 4" id="4"/>
          <p:cNvGrpSpPr/>
          <p:nvPr/>
        </p:nvGrpSpPr>
        <p:grpSpPr>
          <a:xfrm rot="0">
            <a:off x="10806363" y="2970796"/>
            <a:ext cx="6452937" cy="4345408"/>
            <a:chOff x="0" y="0"/>
            <a:chExt cx="6350000" cy="4276090"/>
          </a:xfrm>
        </p:grpSpPr>
        <p:sp>
          <p:nvSpPr>
            <p:cNvPr name="Freeform 5" id="5"/>
            <p:cNvSpPr/>
            <p:nvPr/>
          </p:nvSpPr>
          <p:spPr>
            <a:xfrm flipH="false" flipV="false" rot="0">
              <a:off x="0" y="0"/>
              <a:ext cx="6350000" cy="4276090"/>
            </a:xfrm>
            <a:custGeom>
              <a:avLst/>
              <a:gdLst/>
              <a:ahLst/>
              <a:cxnLst/>
              <a:rect r="r" b="b" t="t" l="l"/>
              <a:pathLst>
                <a:path h="4276090" w="6350000">
                  <a:moveTo>
                    <a:pt x="6220460" y="0"/>
                  </a:moveTo>
                  <a:cubicBezTo>
                    <a:pt x="4969510" y="0"/>
                    <a:pt x="3713480" y="0"/>
                    <a:pt x="2462530" y="0"/>
                  </a:cubicBezTo>
                  <a:lnTo>
                    <a:pt x="2462530" y="129540"/>
                  </a:lnTo>
                  <a:cubicBezTo>
                    <a:pt x="2346960" y="129540"/>
                    <a:pt x="2189480" y="129540"/>
                    <a:pt x="2073910" y="129540"/>
                  </a:cubicBezTo>
                  <a:lnTo>
                    <a:pt x="2073910" y="259080"/>
                  </a:lnTo>
                  <a:cubicBezTo>
                    <a:pt x="1958340" y="259080"/>
                    <a:pt x="1800860" y="259080"/>
                    <a:pt x="1685290" y="259080"/>
                  </a:cubicBezTo>
                  <a:lnTo>
                    <a:pt x="1685290" y="388620"/>
                  </a:lnTo>
                  <a:cubicBezTo>
                    <a:pt x="1620520" y="388620"/>
                    <a:pt x="1490980" y="388620"/>
                    <a:pt x="1426210" y="388620"/>
                  </a:cubicBezTo>
                  <a:lnTo>
                    <a:pt x="1426210" y="518160"/>
                  </a:lnTo>
                  <a:cubicBezTo>
                    <a:pt x="1361440" y="518160"/>
                    <a:pt x="1231900" y="518160"/>
                    <a:pt x="1167130" y="518160"/>
                  </a:cubicBezTo>
                  <a:lnTo>
                    <a:pt x="1167130" y="647700"/>
                  </a:lnTo>
                  <a:cubicBezTo>
                    <a:pt x="1102360" y="647700"/>
                    <a:pt x="972820" y="647700"/>
                    <a:pt x="908050" y="647700"/>
                  </a:cubicBezTo>
                  <a:lnTo>
                    <a:pt x="908050" y="777240"/>
                  </a:lnTo>
                  <a:lnTo>
                    <a:pt x="777240" y="777240"/>
                  </a:lnTo>
                  <a:lnTo>
                    <a:pt x="777240" y="906780"/>
                  </a:lnTo>
                  <a:lnTo>
                    <a:pt x="647700" y="906780"/>
                  </a:lnTo>
                  <a:lnTo>
                    <a:pt x="647700" y="1036320"/>
                  </a:lnTo>
                  <a:lnTo>
                    <a:pt x="518160" y="1036320"/>
                  </a:lnTo>
                  <a:cubicBezTo>
                    <a:pt x="518160" y="1101090"/>
                    <a:pt x="518160" y="1230630"/>
                    <a:pt x="518160" y="1295400"/>
                  </a:cubicBezTo>
                  <a:lnTo>
                    <a:pt x="388620" y="1295400"/>
                  </a:lnTo>
                  <a:cubicBezTo>
                    <a:pt x="388620" y="1360170"/>
                    <a:pt x="388620" y="1489710"/>
                    <a:pt x="388620" y="1554480"/>
                  </a:cubicBezTo>
                  <a:lnTo>
                    <a:pt x="259080" y="1554480"/>
                  </a:lnTo>
                  <a:cubicBezTo>
                    <a:pt x="259080" y="1619250"/>
                    <a:pt x="259080" y="1748790"/>
                    <a:pt x="259080" y="1813560"/>
                  </a:cubicBezTo>
                  <a:lnTo>
                    <a:pt x="129540" y="1813560"/>
                  </a:lnTo>
                  <a:cubicBezTo>
                    <a:pt x="129540" y="1929130"/>
                    <a:pt x="129540" y="2086610"/>
                    <a:pt x="129540" y="2202180"/>
                  </a:cubicBezTo>
                  <a:lnTo>
                    <a:pt x="0" y="2202180"/>
                  </a:lnTo>
                  <a:cubicBezTo>
                    <a:pt x="0" y="2890520"/>
                    <a:pt x="0" y="3586480"/>
                    <a:pt x="0" y="4276090"/>
                  </a:cubicBezTo>
                  <a:cubicBezTo>
                    <a:pt x="1380490" y="4276090"/>
                    <a:pt x="2766060" y="4276090"/>
                    <a:pt x="4146550" y="4276090"/>
                  </a:cubicBezTo>
                  <a:lnTo>
                    <a:pt x="4146550" y="4146550"/>
                  </a:lnTo>
                  <a:cubicBezTo>
                    <a:pt x="4262120" y="4146550"/>
                    <a:pt x="4419600" y="4146550"/>
                    <a:pt x="4535170" y="4146550"/>
                  </a:cubicBezTo>
                  <a:lnTo>
                    <a:pt x="4535170" y="4017010"/>
                  </a:lnTo>
                  <a:cubicBezTo>
                    <a:pt x="4650740" y="4017010"/>
                    <a:pt x="4808220" y="4017010"/>
                    <a:pt x="4923790" y="4017010"/>
                  </a:cubicBezTo>
                  <a:lnTo>
                    <a:pt x="4923790" y="3887470"/>
                  </a:lnTo>
                  <a:cubicBezTo>
                    <a:pt x="4988560" y="3887470"/>
                    <a:pt x="5118100" y="3887470"/>
                    <a:pt x="5182870" y="3887470"/>
                  </a:cubicBezTo>
                  <a:lnTo>
                    <a:pt x="5182870" y="3757930"/>
                  </a:lnTo>
                  <a:cubicBezTo>
                    <a:pt x="5247640" y="3757930"/>
                    <a:pt x="5377180" y="3757930"/>
                    <a:pt x="5441950" y="3757930"/>
                  </a:cubicBezTo>
                  <a:lnTo>
                    <a:pt x="5441950" y="3628390"/>
                  </a:lnTo>
                  <a:lnTo>
                    <a:pt x="5571490" y="3628390"/>
                  </a:lnTo>
                  <a:lnTo>
                    <a:pt x="5571490" y="3498850"/>
                  </a:lnTo>
                  <a:lnTo>
                    <a:pt x="5702300" y="3498850"/>
                  </a:lnTo>
                  <a:lnTo>
                    <a:pt x="5702300" y="3369310"/>
                  </a:lnTo>
                  <a:lnTo>
                    <a:pt x="5831840" y="3369310"/>
                  </a:lnTo>
                  <a:cubicBezTo>
                    <a:pt x="5831840" y="3304540"/>
                    <a:pt x="5831840" y="3175000"/>
                    <a:pt x="5831840" y="3110230"/>
                  </a:cubicBezTo>
                  <a:lnTo>
                    <a:pt x="5961380" y="3110230"/>
                  </a:lnTo>
                  <a:cubicBezTo>
                    <a:pt x="5961380" y="3045460"/>
                    <a:pt x="5961380" y="2915920"/>
                    <a:pt x="5961380" y="2851150"/>
                  </a:cubicBezTo>
                  <a:lnTo>
                    <a:pt x="6090920" y="2851150"/>
                  </a:lnTo>
                  <a:cubicBezTo>
                    <a:pt x="6090920" y="2735580"/>
                    <a:pt x="6090920" y="2578100"/>
                    <a:pt x="6090920" y="2462530"/>
                  </a:cubicBezTo>
                  <a:lnTo>
                    <a:pt x="6220460" y="2462530"/>
                  </a:lnTo>
                  <a:cubicBezTo>
                    <a:pt x="6220460" y="2299970"/>
                    <a:pt x="6220460" y="2106930"/>
                    <a:pt x="6220460" y="1944370"/>
                  </a:cubicBezTo>
                  <a:lnTo>
                    <a:pt x="6350000" y="1944370"/>
                  </a:lnTo>
                  <a:cubicBezTo>
                    <a:pt x="6350000" y="1299210"/>
                    <a:pt x="6350000" y="645160"/>
                    <a:pt x="6350000" y="0"/>
                  </a:cubicBezTo>
                  <a:lnTo>
                    <a:pt x="6220460" y="0"/>
                  </a:lnTo>
                  <a:close/>
                </a:path>
              </a:pathLst>
            </a:custGeom>
            <a:blipFill>
              <a:blip r:embed="rId4"/>
              <a:stretch>
                <a:fillRect l="-11638" t="0" r="-11638" b="0"/>
              </a:stretch>
            </a:blipFill>
          </p:spPr>
        </p:sp>
      </p:grpSp>
      <p:sp>
        <p:nvSpPr>
          <p:cNvPr name="TextBox 6" id="6"/>
          <p:cNvSpPr txBox="true"/>
          <p:nvPr/>
        </p:nvSpPr>
        <p:spPr>
          <a:xfrm rot="0">
            <a:off x="1028700" y="923925"/>
            <a:ext cx="5040762" cy="953135"/>
          </a:xfrm>
          <a:prstGeom prst="rect">
            <a:avLst/>
          </a:prstGeom>
        </p:spPr>
        <p:txBody>
          <a:bodyPr anchor="t" rtlCol="false" tIns="0" lIns="0" bIns="0" rIns="0">
            <a:spAutoFit/>
          </a:bodyPr>
          <a:lstStyle/>
          <a:p>
            <a:pPr algn="just">
              <a:lnSpc>
                <a:spcPts val="7840"/>
              </a:lnSpc>
              <a:spcBef>
                <a:spcPct val="0"/>
              </a:spcBef>
            </a:pPr>
            <a:r>
              <a:rPr lang="en-US" b="true" sz="5600">
                <a:solidFill>
                  <a:srgbClr val="0054C5"/>
                </a:solidFill>
                <a:latin typeface="Cerebri Bold"/>
                <a:ea typeface="Cerebri Bold"/>
                <a:cs typeface="Cerebri Bold"/>
                <a:sym typeface="Cerebri Bold"/>
              </a:rPr>
              <a:t>Latar Belakang</a:t>
            </a:r>
          </a:p>
        </p:txBody>
      </p:sp>
      <p:grpSp>
        <p:nvGrpSpPr>
          <p:cNvPr name="Group 7" id="7"/>
          <p:cNvGrpSpPr/>
          <p:nvPr/>
        </p:nvGrpSpPr>
        <p:grpSpPr>
          <a:xfrm rot="0">
            <a:off x="1028700" y="0"/>
            <a:ext cx="16230600" cy="1205443"/>
            <a:chOff x="0" y="0"/>
            <a:chExt cx="21640800" cy="1607257"/>
          </a:xfrm>
        </p:grpSpPr>
        <p:sp>
          <p:nvSpPr>
            <p:cNvPr name="AutoShape 8" id="8"/>
            <p:cNvSpPr/>
            <p:nvPr/>
          </p:nvSpPr>
          <p:spPr>
            <a:xfrm>
              <a:off x="4131137" y="841114"/>
              <a:ext cx="13915256" cy="0"/>
            </a:xfrm>
            <a:prstGeom prst="line">
              <a:avLst/>
            </a:prstGeom>
            <a:ln cap="flat" w="26151">
              <a:solidFill>
                <a:srgbClr val="39352C"/>
              </a:solidFill>
              <a:prstDash val="solid"/>
              <a:headEnd type="none" len="sm" w="sm"/>
              <a:tailEnd type="none" len="sm" w="sm"/>
            </a:ln>
          </p:spPr>
        </p:sp>
        <p:sp>
          <p:nvSpPr>
            <p:cNvPr name="TextBox 9" id="9"/>
            <p:cNvSpPr txBox="true"/>
            <p:nvPr/>
          </p:nvSpPr>
          <p:spPr>
            <a:xfrm rot="0">
              <a:off x="18046393" y="601930"/>
              <a:ext cx="3594407" cy="440267"/>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10" id="10"/>
            <p:cNvSpPr txBox="true"/>
            <p:nvPr/>
          </p:nvSpPr>
          <p:spPr>
            <a:xfrm rot="0">
              <a:off x="0" y="601930"/>
              <a:ext cx="4131137" cy="440266"/>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
          <p:nvSpPr>
            <p:cNvPr name="Freeform 11" id="11"/>
            <p:cNvSpPr/>
            <p:nvPr/>
          </p:nvSpPr>
          <p:spPr>
            <a:xfrm flipH="false" flipV="false" rot="0">
              <a:off x="7560541" y="0"/>
              <a:ext cx="4073693" cy="1607257"/>
            </a:xfrm>
            <a:custGeom>
              <a:avLst/>
              <a:gdLst/>
              <a:ahLst/>
              <a:cxnLst/>
              <a:rect r="r" b="b" t="t" l="l"/>
              <a:pathLst>
                <a:path h="1607257" w="4073693">
                  <a:moveTo>
                    <a:pt x="0" y="0"/>
                  </a:moveTo>
                  <a:lnTo>
                    <a:pt x="4073693" y="0"/>
                  </a:lnTo>
                  <a:lnTo>
                    <a:pt x="4073693" y="1607257"/>
                  </a:lnTo>
                  <a:lnTo>
                    <a:pt x="0" y="16072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8838746"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7"/>
              <a:stretch>
                <a:fillRect l="0" t="0" r="0" b="0"/>
              </a:stretch>
            </a:blipFill>
          </p:spPr>
        </p:sp>
        <p:sp>
          <p:nvSpPr>
            <p:cNvPr name="Freeform 13" id="13"/>
            <p:cNvSpPr/>
            <p:nvPr/>
          </p:nvSpPr>
          <p:spPr>
            <a:xfrm flipH="false" flipV="false" rot="0">
              <a:off x="9597387"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8"/>
              <a:stretch>
                <a:fillRect l="0" t="0" r="0" b="0"/>
              </a:stretch>
            </a:blipFill>
          </p:spPr>
        </p:sp>
      </p:grpSp>
      <p:sp>
        <p:nvSpPr>
          <p:cNvPr name="TextBox 14" id="14"/>
          <p:cNvSpPr txBox="true"/>
          <p:nvPr/>
        </p:nvSpPr>
        <p:spPr>
          <a:xfrm rot="0">
            <a:off x="1028700" y="1937998"/>
            <a:ext cx="8115300" cy="6622001"/>
          </a:xfrm>
          <a:prstGeom prst="rect">
            <a:avLst/>
          </a:prstGeom>
        </p:spPr>
        <p:txBody>
          <a:bodyPr anchor="t" rtlCol="false" tIns="0" lIns="0" bIns="0" rIns="0">
            <a:spAutoFit/>
          </a:bodyPr>
          <a:lstStyle/>
          <a:p>
            <a:pPr algn="just">
              <a:lnSpc>
                <a:spcPts val="2753"/>
              </a:lnSpc>
            </a:pPr>
            <a:r>
              <a:rPr lang="en-US" sz="1966" b="true">
                <a:solidFill>
                  <a:srgbClr val="39352C"/>
                </a:solidFill>
                <a:latin typeface="Cerebri Bold"/>
                <a:ea typeface="Cerebri Bold"/>
                <a:cs typeface="Cerebri Bold"/>
                <a:sym typeface="Cerebri Bold"/>
              </a:rPr>
              <a:t>Teknologi pengenalan suara (ASR) modern seperti Siri dan Google Assistant telah berkembang pesat, namun kemajuan ini tidak dirasakan oleh bahasa low-resource seperti Bahasa Minangkabau. Keterbatasan data latih menyebabkan model ASR canggih sekalipun sering gagal mengenali fonetik dan intonasi khas Minang dengan akurat.</a:t>
            </a:r>
          </a:p>
          <a:p>
            <a:pPr algn="just">
              <a:lnSpc>
                <a:spcPts val="2753"/>
              </a:lnSpc>
            </a:pPr>
          </a:p>
          <a:p>
            <a:pPr algn="just">
              <a:lnSpc>
                <a:spcPts val="2753"/>
              </a:lnSpc>
            </a:pPr>
            <a:r>
              <a:rPr lang="en-US" sz="1966" b="true">
                <a:solidFill>
                  <a:srgbClr val="39352C"/>
                </a:solidFill>
                <a:latin typeface="Cerebri Bold"/>
                <a:ea typeface="Cerebri Bold"/>
                <a:cs typeface="Cerebri Bold"/>
                <a:sym typeface="Cerebri Bold"/>
              </a:rPr>
              <a:t>Meskipun model OpenAI Whisper memiliki kemampuan multibahasa yang kuat, performa model dasarnya (base model) masih belum optimal untuk bahasa daerah yang kurang terwakili dalam data latihnya. Hal ini menghambat upaya digitalisasi arsip budaya lisan</a:t>
            </a:r>
          </a:p>
          <a:p>
            <a:pPr algn="just">
              <a:lnSpc>
                <a:spcPts val="2753"/>
              </a:lnSpc>
            </a:pPr>
          </a:p>
          <a:p>
            <a:pPr algn="just">
              <a:lnSpc>
                <a:spcPts val="2753"/>
              </a:lnSpc>
              <a:spcBef>
                <a:spcPct val="0"/>
              </a:spcBef>
            </a:pPr>
            <a:r>
              <a:rPr lang="en-US" b="true" sz="1966">
                <a:solidFill>
                  <a:srgbClr val="39352C"/>
                </a:solidFill>
                <a:latin typeface="Cerebri Bold"/>
                <a:ea typeface="Cerebri Bold"/>
                <a:cs typeface="Cerebri Bold"/>
                <a:sym typeface="Cerebri Bold"/>
              </a:rPr>
              <a:t>Oleh karena itu, penelitian ini menjadi krusial untuk mengadaptasi (fine-tuning) model Whisper Base agar mampu mengenali Bahasa Minangkabau dengan baik. Langkah ini bukan sekadar inovasi teknis, melainkan kebutuhan esensial untuk menjembatani kesenjangan teknologi dan mendukung pelestarian budaya Minangkabau di era digital.</a:t>
            </a:r>
          </a:p>
        </p:txBody>
      </p:sp>
    </p:spTree>
  </p:cSld>
  <p:clrMapOvr>
    <a:masterClrMapping/>
  </p:clrMapOvr>
  <p:transition spd="slow">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1697909" y="-5120016"/>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6522296" y="8223851"/>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grpSp>
        <p:nvGrpSpPr>
          <p:cNvPr name="Group 4" id="4"/>
          <p:cNvGrpSpPr/>
          <p:nvPr/>
        </p:nvGrpSpPr>
        <p:grpSpPr>
          <a:xfrm rot="0">
            <a:off x="9613900" y="2152770"/>
            <a:ext cx="8115300" cy="5473201"/>
            <a:chOff x="0" y="0"/>
            <a:chExt cx="10820400" cy="7297601"/>
          </a:xfrm>
        </p:grpSpPr>
        <p:sp>
          <p:nvSpPr>
            <p:cNvPr name="AutoShape 5" id="5"/>
            <p:cNvSpPr/>
            <p:nvPr/>
          </p:nvSpPr>
          <p:spPr>
            <a:xfrm>
              <a:off x="138969" y="1143847"/>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6" id="6"/>
            <p:cNvSpPr/>
            <p:nvPr/>
          </p:nvSpPr>
          <p:spPr>
            <a:xfrm>
              <a:off x="138969" y="3147874"/>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7" id="7"/>
            <p:cNvSpPr/>
            <p:nvPr/>
          </p:nvSpPr>
          <p:spPr>
            <a:xfrm>
              <a:off x="138969" y="5225858"/>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8" id="8"/>
            <p:cNvSpPr/>
            <p:nvPr/>
          </p:nvSpPr>
          <p:spPr>
            <a:xfrm>
              <a:off x="138969" y="7284901"/>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grpSp>
          <p:nvGrpSpPr>
            <p:cNvPr name="Group 9" id="9"/>
            <p:cNvGrpSpPr/>
            <p:nvPr/>
          </p:nvGrpSpPr>
          <p:grpSpPr>
            <a:xfrm rot="0">
              <a:off x="0" y="1464646"/>
              <a:ext cx="277938" cy="281554"/>
              <a:chOff x="0" y="0"/>
              <a:chExt cx="54901" cy="55616"/>
            </a:xfrm>
          </p:grpSpPr>
          <p:sp>
            <p:nvSpPr>
              <p:cNvPr name="Freeform 10" id="10"/>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1" id="11"/>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0" y="3528608"/>
              <a:ext cx="277938" cy="281554"/>
              <a:chOff x="0" y="0"/>
              <a:chExt cx="54901" cy="55616"/>
            </a:xfrm>
          </p:grpSpPr>
          <p:sp>
            <p:nvSpPr>
              <p:cNvPr name="Freeform 13" id="13"/>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4" id="14"/>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0" y="5592571"/>
              <a:ext cx="277938" cy="281554"/>
              <a:chOff x="0" y="0"/>
              <a:chExt cx="54901" cy="55616"/>
            </a:xfrm>
          </p:grpSpPr>
          <p:sp>
            <p:nvSpPr>
              <p:cNvPr name="Freeform 16" id="16"/>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7" id="17"/>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sp>
          <p:nvSpPr>
            <p:cNvPr name="TextBox 18" id="18"/>
            <p:cNvSpPr txBox="true"/>
            <p:nvPr/>
          </p:nvSpPr>
          <p:spPr>
            <a:xfrm rot="0">
              <a:off x="0" y="-104775"/>
              <a:ext cx="10141243" cy="1235922"/>
            </a:xfrm>
            <a:prstGeom prst="rect">
              <a:avLst/>
            </a:prstGeom>
          </p:spPr>
          <p:txBody>
            <a:bodyPr anchor="t" rtlCol="false" tIns="0" lIns="0" bIns="0" rIns="0">
              <a:spAutoFit/>
            </a:bodyPr>
            <a:lstStyle/>
            <a:p>
              <a:pPr algn="l">
                <a:lnSpc>
                  <a:spcPts val="7840"/>
                </a:lnSpc>
                <a:spcBef>
                  <a:spcPct val="0"/>
                </a:spcBef>
              </a:pPr>
              <a:r>
                <a:rPr lang="en-US" b="true" sz="5600">
                  <a:solidFill>
                    <a:srgbClr val="0054C5"/>
                  </a:solidFill>
                  <a:latin typeface="Cerebri Bold"/>
                  <a:ea typeface="Cerebri Bold"/>
                  <a:cs typeface="Cerebri Bold"/>
                  <a:sym typeface="Cerebri Bold"/>
                </a:rPr>
                <a:t>Tujuan Penelitian</a:t>
              </a:r>
            </a:p>
          </p:txBody>
        </p:sp>
        <p:sp>
          <p:nvSpPr>
            <p:cNvPr name="TextBox 19" id="19"/>
            <p:cNvSpPr txBox="true"/>
            <p:nvPr/>
          </p:nvSpPr>
          <p:spPr>
            <a:xfrm rot="0">
              <a:off x="571781" y="1344251"/>
              <a:ext cx="4238209" cy="4842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Adaptasi model</a:t>
              </a:r>
            </a:p>
          </p:txBody>
        </p:sp>
        <p:sp>
          <p:nvSpPr>
            <p:cNvPr name="TextBox 20" id="20"/>
            <p:cNvSpPr txBox="true"/>
            <p:nvPr/>
          </p:nvSpPr>
          <p:spPr>
            <a:xfrm rot="0">
              <a:off x="4809990" y="1353776"/>
              <a:ext cx="6010410" cy="1742228"/>
            </a:xfrm>
            <a:prstGeom prst="rect">
              <a:avLst/>
            </a:prstGeom>
          </p:spPr>
          <p:txBody>
            <a:bodyPr anchor="t" rtlCol="false" tIns="0" lIns="0" bIns="0" rIns="0">
              <a:spAutoFit/>
            </a:bodyPr>
            <a:lstStyle/>
            <a:p>
              <a:pPr algn="l">
                <a:lnSpc>
                  <a:spcPts val="2660"/>
                </a:lnSpc>
                <a:spcBef>
                  <a:spcPct val="0"/>
                </a:spcBef>
              </a:pPr>
              <a:r>
                <a:rPr lang="en-US" sz="1900">
                  <a:solidFill>
                    <a:srgbClr val="39352C"/>
                  </a:solidFill>
                  <a:latin typeface="Cerebri"/>
                  <a:ea typeface="Cerebri"/>
                  <a:cs typeface="Cerebri"/>
                  <a:sym typeface="Cerebri"/>
                </a:rPr>
                <a:t>Menghasilkan model Whisper Base yang mampu mentranskripsi Bahasa Minangkabau dengan akurasi lebih tinggi dibanding model dasar (pre-trained)</a:t>
              </a:r>
            </a:p>
          </p:txBody>
        </p:sp>
        <p:sp>
          <p:nvSpPr>
            <p:cNvPr name="TextBox 21" id="21"/>
            <p:cNvSpPr txBox="true"/>
            <p:nvPr/>
          </p:nvSpPr>
          <p:spPr>
            <a:xfrm rot="0">
              <a:off x="4809990" y="3417738"/>
              <a:ext cx="6010410" cy="1742228"/>
            </a:xfrm>
            <a:prstGeom prst="rect">
              <a:avLst/>
            </a:prstGeom>
          </p:spPr>
          <p:txBody>
            <a:bodyPr anchor="t" rtlCol="false" tIns="0" lIns="0" bIns="0" rIns="0">
              <a:spAutoFit/>
            </a:bodyPr>
            <a:lstStyle/>
            <a:p>
              <a:pPr algn="l">
                <a:lnSpc>
                  <a:spcPts val="2660"/>
                </a:lnSpc>
                <a:spcBef>
                  <a:spcPct val="0"/>
                </a:spcBef>
              </a:pPr>
              <a:r>
                <a:rPr lang="en-US" sz="1900">
                  <a:solidFill>
                    <a:srgbClr val="39352C"/>
                  </a:solidFill>
                  <a:latin typeface="Cerebri"/>
                  <a:ea typeface="Cerebri"/>
                  <a:cs typeface="Cerebri"/>
                  <a:sym typeface="Cerebri"/>
                </a:rPr>
                <a:t>Membandingkan efektivitas Freeze Encoder (melatih ~37 juta parameter) vs LoRA (melatih ~197 ribu parameter) pada skenario data minim</a:t>
              </a:r>
            </a:p>
          </p:txBody>
        </p:sp>
        <p:sp>
          <p:nvSpPr>
            <p:cNvPr name="TextBox 22" id="22"/>
            <p:cNvSpPr txBox="true"/>
            <p:nvPr/>
          </p:nvSpPr>
          <p:spPr>
            <a:xfrm rot="0">
              <a:off x="4809990" y="5476782"/>
              <a:ext cx="6010410" cy="1742228"/>
            </a:xfrm>
            <a:prstGeom prst="rect">
              <a:avLst/>
            </a:prstGeom>
          </p:spPr>
          <p:txBody>
            <a:bodyPr anchor="t" rtlCol="false" tIns="0" lIns="0" bIns="0" rIns="0">
              <a:spAutoFit/>
            </a:bodyPr>
            <a:lstStyle/>
            <a:p>
              <a:pPr algn="l">
                <a:lnSpc>
                  <a:spcPts val="2660"/>
                </a:lnSpc>
                <a:spcBef>
                  <a:spcPct val="0"/>
                </a:spcBef>
              </a:pPr>
              <a:r>
                <a:rPr lang="en-US" sz="1900">
                  <a:solidFill>
                    <a:srgbClr val="39352C"/>
                  </a:solidFill>
                  <a:latin typeface="Cerebri"/>
                  <a:ea typeface="Cerebri"/>
                  <a:cs typeface="Cerebri"/>
                  <a:sym typeface="Cerebri"/>
                </a:rPr>
                <a:t>Mengevaluasi performa menggunakan metrik standar (WER &amp; CER) serta analisis kualitatif terhadap pola kesalahan model</a:t>
              </a:r>
            </a:p>
          </p:txBody>
        </p:sp>
        <p:sp>
          <p:nvSpPr>
            <p:cNvPr name="TextBox 23" id="23"/>
            <p:cNvSpPr txBox="true"/>
            <p:nvPr/>
          </p:nvSpPr>
          <p:spPr>
            <a:xfrm rot="0">
              <a:off x="571781" y="3408213"/>
              <a:ext cx="4238209" cy="4842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Komparasi Strategi</a:t>
              </a:r>
            </a:p>
          </p:txBody>
        </p:sp>
        <p:sp>
          <p:nvSpPr>
            <p:cNvPr name="TextBox 24" id="24"/>
            <p:cNvSpPr txBox="true"/>
            <p:nvPr/>
          </p:nvSpPr>
          <p:spPr>
            <a:xfrm rot="0">
              <a:off x="571781" y="5467257"/>
              <a:ext cx="4238209" cy="4842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Analisis Mendalam</a:t>
              </a:r>
            </a:p>
          </p:txBody>
        </p:sp>
      </p:grpSp>
      <p:grpSp>
        <p:nvGrpSpPr>
          <p:cNvPr name="Group 25" id="25"/>
          <p:cNvGrpSpPr/>
          <p:nvPr/>
        </p:nvGrpSpPr>
        <p:grpSpPr>
          <a:xfrm rot="0">
            <a:off x="571500" y="2152770"/>
            <a:ext cx="8115300" cy="5473201"/>
            <a:chOff x="0" y="0"/>
            <a:chExt cx="10820400" cy="7297601"/>
          </a:xfrm>
        </p:grpSpPr>
        <p:sp>
          <p:nvSpPr>
            <p:cNvPr name="AutoShape 26" id="26"/>
            <p:cNvSpPr/>
            <p:nvPr/>
          </p:nvSpPr>
          <p:spPr>
            <a:xfrm>
              <a:off x="138969" y="1143847"/>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27" id="27"/>
            <p:cNvSpPr/>
            <p:nvPr/>
          </p:nvSpPr>
          <p:spPr>
            <a:xfrm>
              <a:off x="138969" y="3147874"/>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28" id="28"/>
            <p:cNvSpPr/>
            <p:nvPr/>
          </p:nvSpPr>
          <p:spPr>
            <a:xfrm>
              <a:off x="138969" y="5225858"/>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29" id="29"/>
            <p:cNvSpPr/>
            <p:nvPr/>
          </p:nvSpPr>
          <p:spPr>
            <a:xfrm>
              <a:off x="138969" y="7284901"/>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grpSp>
          <p:nvGrpSpPr>
            <p:cNvPr name="Group 30" id="30"/>
            <p:cNvGrpSpPr/>
            <p:nvPr/>
          </p:nvGrpSpPr>
          <p:grpSpPr>
            <a:xfrm rot="0">
              <a:off x="0" y="1464646"/>
              <a:ext cx="277938" cy="281554"/>
              <a:chOff x="0" y="0"/>
              <a:chExt cx="54901" cy="55616"/>
            </a:xfrm>
          </p:grpSpPr>
          <p:sp>
            <p:nvSpPr>
              <p:cNvPr name="Freeform 31" id="31"/>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32" id="32"/>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grpSp>
          <p:nvGrpSpPr>
            <p:cNvPr name="Group 33" id="33"/>
            <p:cNvGrpSpPr/>
            <p:nvPr/>
          </p:nvGrpSpPr>
          <p:grpSpPr>
            <a:xfrm rot="0">
              <a:off x="0" y="3528608"/>
              <a:ext cx="277938" cy="281554"/>
              <a:chOff x="0" y="0"/>
              <a:chExt cx="54901" cy="55616"/>
            </a:xfrm>
          </p:grpSpPr>
          <p:sp>
            <p:nvSpPr>
              <p:cNvPr name="Freeform 34" id="34"/>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35" id="35"/>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grpSp>
          <p:nvGrpSpPr>
            <p:cNvPr name="Group 36" id="36"/>
            <p:cNvGrpSpPr/>
            <p:nvPr/>
          </p:nvGrpSpPr>
          <p:grpSpPr>
            <a:xfrm rot="0">
              <a:off x="0" y="5592571"/>
              <a:ext cx="277938" cy="281554"/>
              <a:chOff x="0" y="0"/>
              <a:chExt cx="54901" cy="55616"/>
            </a:xfrm>
          </p:grpSpPr>
          <p:sp>
            <p:nvSpPr>
              <p:cNvPr name="Freeform 37" id="37"/>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38" id="38"/>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sp>
          <p:nvSpPr>
            <p:cNvPr name="TextBox 39" id="39"/>
            <p:cNvSpPr txBox="true"/>
            <p:nvPr/>
          </p:nvSpPr>
          <p:spPr>
            <a:xfrm rot="0">
              <a:off x="0" y="-104775"/>
              <a:ext cx="10141243" cy="1235922"/>
            </a:xfrm>
            <a:prstGeom prst="rect">
              <a:avLst/>
            </a:prstGeom>
          </p:spPr>
          <p:txBody>
            <a:bodyPr anchor="t" rtlCol="false" tIns="0" lIns="0" bIns="0" rIns="0">
              <a:spAutoFit/>
            </a:bodyPr>
            <a:lstStyle/>
            <a:p>
              <a:pPr algn="l">
                <a:lnSpc>
                  <a:spcPts val="7840"/>
                </a:lnSpc>
                <a:spcBef>
                  <a:spcPct val="0"/>
                </a:spcBef>
              </a:pPr>
              <a:r>
                <a:rPr lang="en-US" b="true" sz="5600">
                  <a:solidFill>
                    <a:srgbClr val="0054C5"/>
                  </a:solidFill>
                  <a:latin typeface="Cerebri Bold"/>
                  <a:ea typeface="Cerebri Bold"/>
                  <a:cs typeface="Cerebri Bold"/>
                  <a:sym typeface="Cerebri Bold"/>
                </a:rPr>
                <a:t>Rumusan Masalah</a:t>
              </a:r>
            </a:p>
          </p:txBody>
        </p:sp>
        <p:sp>
          <p:nvSpPr>
            <p:cNvPr name="TextBox 40" id="40"/>
            <p:cNvSpPr txBox="true"/>
            <p:nvPr/>
          </p:nvSpPr>
          <p:spPr>
            <a:xfrm rot="0">
              <a:off x="571781" y="1344251"/>
              <a:ext cx="3391542" cy="10049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Adaptasi Model di Data Terbatas</a:t>
              </a:r>
            </a:p>
          </p:txBody>
        </p:sp>
        <p:sp>
          <p:nvSpPr>
            <p:cNvPr name="TextBox 41" id="41"/>
            <p:cNvSpPr txBox="true"/>
            <p:nvPr/>
          </p:nvSpPr>
          <p:spPr>
            <a:xfrm rot="0">
              <a:off x="4809990" y="1353776"/>
              <a:ext cx="6010410" cy="1742228"/>
            </a:xfrm>
            <a:prstGeom prst="rect">
              <a:avLst/>
            </a:prstGeom>
          </p:spPr>
          <p:txBody>
            <a:bodyPr anchor="t" rtlCol="false" tIns="0" lIns="0" bIns="0" rIns="0">
              <a:spAutoFit/>
            </a:bodyPr>
            <a:lstStyle/>
            <a:p>
              <a:pPr algn="l">
                <a:lnSpc>
                  <a:spcPts val="2660"/>
                </a:lnSpc>
                <a:spcBef>
                  <a:spcPct val="0"/>
                </a:spcBef>
              </a:pPr>
              <a:r>
                <a:rPr lang="en-US" sz="1900">
                  <a:solidFill>
                    <a:srgbClr val="39352C"/>
                  </a:solidFill>
                  <a:latin typeface="Cerebri"/>
                  <a:ea typeface="Cerebri"/>
                  <a:cs typeface="Cerebri"/>
                  <a:sym typeface="Cerebri"/>
                </a:rPr>
                <a:t>Bagaimana mengadaptasi (fine-tuning) OpenAI Whisper Base agar akurat mengenali Bahasa Minangkabau dengan data extremely low-resource (1.3 jam)?</a:t>
              </a:r>
            </a:p>
          </p:txBody>
        </p:sp>
        <p:sp>
          <p:nvSpPr>
            <p:cNvPr name="TextBox 42" id="42"/>
            <p:cNvSpPr txBox="true"/>
            <p:nvPr/>
          </p:nvSpPr>
          <p:spPr>
            <a:xfrm rot="0">
              <a:off x="4809990" y="3417738"/>
              <a:ext cx="6010410" cy="1742228"/>
            </a:xfrm>
            <a:prstGeom prst="rect">
              <a:avLst/>
            </a:prstGeom>
          </p:spPr>
          <p:txBody>
            <a:bodyPr anchor="t" rtlCol="false" tIns="0" lIns="0" bIns="0" rIns="0">
              <a:spAutoFit/>
            </a:bodyPr>
            <a:lstStyle/>
            <a:p>
              <a:pPr algn="l">
                <a:lnSpc>
                  <a:spcPts val="2660"/>
                </a:lnSpc>
                <a:spcBef>
                  <a:spcPct val="0"/>
                </a:spcBef>
              </a:pPr>
              <a:r>
                <a:rPr lang="en-US" sz="1900">
                  <a:solidFill>
                    <a:srgbClr val="39352C"/>
                  </a:solidFill>
                  <a:latin typeface="Cerebri"/>
                  <a:ea typeface="Cerebri"/>
                  <a:cs typeface="Cerebri"/>
                  <a:sym typeface="Cerebri"/>
                </a:rPr>
                <a:t>Mana yang lebih efektif dan efisien antara strategi standar (Freeze Encoder) vs strategi hemat parameter (LoRA) untuk kasus ini?</a:t>
              </a:r>
            </a:p>
          </p:txBody>
        </p:sp>
        <p:sp>
          <p:nvSpPr>
            <p:cNvPr name="TextBox 43" id="43"/>
            <p:cNvSpPr txBox="true"/>
            <p:nvPr/>
          </p:nvSpPr>
          <p:spPr>
            <a:xfrm rot="0">
              <a:off x="4809990" y="5476782"/>
              <a:ext cx="6010410" cy="1742228"/>
            </a:xfrm>
            <a:prstGeom prst="rect">
              <a:avLst/>
            </a:prstGeom>
          </p:spPr>
          <p:txBody>
            <a:bodyPr anchor="t" rtlCol="false" tIns="0" lIns="0" bIns="0" rIns="0">
              <a:spAutoFit/>
            </a:bodyPr>
            <a:lstStyle/>
            <a:p>
              <a:pPr algn="l">
                <a:lnSpc>
                  <a:spcPts val="2660"/>
                </a:lnSpc>
                <a:spcBef>
                  <a:spcPct val="0"/>
                </a:spcBef>
              </a:pPr>
              <a:r>
                <a:rPr lang="en-US" sz="1900">
                  <a:solidFill>
                    <a:srgbClr val="39352C"/>
                  </a:solidFill>
                  <a:latin typeface="Cerebri"/>
                  <a:ea typeface="Cerebri"/>
                  <a:cs typeface="Cerebri"/>
                  <a:sym typeface="Cerebri"/>
                </a:rPr>
                <a:t>Bagaimana mengukur kinerja model tidak hanya dengan angka (WER/CER), tetapi juga menganalisis jenis kesalahan (fonetik, leksikal, halusinasi)? </a:t>
              </a:r>
            </a:p>
          </p:txBody>
        </p:sp>
        <p:sp>
          <p:nvSpPr>
            <p:cNvPr name="TextBox 44" id="44"/>
            <p:cNvSpPr txBox="true"/>
            <p:nvPr/>
          </p:nvSpPr>
          <p:spPr>
            <a:xfrm rot="0">
              <a:off x="571781" y="3408213"/>
              <a:ext cx="4238209" cy="4842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Strategi Fine-Tuning</a:t>
              </a:r>
            </a:p>
          </p:txBody>
        </p:sp>
        <p:sp>
          <p:nvSpPr>
            <p:cNvPr name="TextBox 45" id="45"/>
            <p:cNvSpPr txBox="true"/>
            <p:nvPr/>
          </p:nvSpPr>
          <p:spPr>
            <a:xfrm rot="0">
              <a:off x="571781" y="5467257"/>
              <a:ext cx="3679409" cy="10049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Evaluasi Komprehensif</a:t>
              </a:r>
            </a:p>
          </p:txBody>
        </p:sp>
      </p:grpSp>
      <p:grpSp>
        <p:nvGrpSpPr>
          <p:cNvPr name="Group 46" id="46"/>
          <p:cNvGrpSpPr/>
          <p:nvPr/>
        </p:nvGrpSpPr>
        <p:grpSpPr>
          <a:xfrm rot="0">
            <a:off x="1028700" y="-17690"/>
            <a:ext cx="16230600" cy="1205443"/>
            <a:chOff x="0" y="0"/>
            <a:chExt cx="21640800" cy="1607257"/>
          </a:xfrm>
        </p:grpSpPr>
        <p:sp>
          <p:nvSpPr>
            <p:cNvPr name="AutoShape 47" id="47"/>
            <p:cNvSpPr/>
            <p:nvPr/>
          </p:nvSpPr>
          <p:spPr>
            <a:xfrm>
              <a:off x="4131137" y="864701"/>
              <a:ext cx="13915256" cy="0"/>
            </a:xfrm>
            <a:prstGeom prst="line">
              <a:avLst/>
            </a:prstGeom>
            <a:ln cap="flat" w="25400">
              <a:solidFill>
                <a:srgbClr val="39352C"/>
              </a:solidFill>
              <a:prstDash val="solid"/>
              <a:headEnd type="none" len="sm" w="sm"/>
              <a:tailEnd type="none" len="sm" w="sm"/>
            </a:ln>
          </p:spPr>
        </p:sp>
        <p:sp>
          <p:nvSpPr>
            <p:cNvPr name="TextBox 48" id="48"/>
            <p:cNvSpPr txBox="true"/>
            <p:nvPr/>
          </p:nvSpPr>
          <p:spPr>
            <a:xfrm rot="0">
              <a:off x="18046393" y="625517"/>
              <a:ext cx="3594407" cy="440267"/>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49" id="49"/>
            <p:cNvSpPr txBox="true"/>
            <p:nvPr/>
          </p:nvSpPr>
          <p:spPr>
            <a:xfrm rot="0">
              <a:off x="0" y="625517"/>
              <a:ext cx="4131137" cy="440266"/>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
          <p:nvSpPr>
            <p:cNvPr name="Freeform 50" id="50"/>
            <p:cNvSpPr/>
            <p:nvPr/>
          </p:nvSpPr>
          <p:spPr>
            <a:xfrm flipH="false" flipV="false" rot="0">
              <a:off x="8783553" y="0"/>
              <a:ext cx="4073693" cy="1607257"/>
            </a:xfrm>
            <a:custGeom>
              <a:avLst/>
              <a:gdLst/>
              <a:ahLst/>
              <a:cxnLst/>
              <a:rect r="r" b="b" t="t" l="l"/>
              <a:pathLst>
                <a:path h="1607257" w="4073693">
                  <a:moveTo>
                    <a:pt x="0" y="0"/>
                  </a:moveTo>
                  <a:lnTo>
                    <a:pt x="4073694" y="0"/>
                  </a:lnTo>
                  <a:lnTo>
                    <a:pt x="4073694" y="1607257"/>
                  </a:lnTo>
                  <a:lnTo>
                    <a:pt x="0" y="1607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1" id="51"/>
            <p:cNvSpPr/>
            <p:nvPr/>
          </p:nvSpPr>
          <p:spPr>
            <a:xfrm flipH="false" flipV="false" rot="0">
              <a:off x="10061758"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6"/>
              <a:stretch>
                <a:fillRect l="0" t="0" r="0" b="0"/>
              </a:stretch>
            </a:blipFill>
          </p:spPr>
        </p:sp>
        <p:sp>
          <p:nvSpPr>
            <p:cNvPr name="Freeform 52" id="52"/>
            <p:cNvSpPr/>
            <p:nvPr/>
          </p:nvSpPr>
          <p:spPr>
            <a:xfrm flipH="false" flipV="false" rot="0">
              <a:off x="10820400"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7"/>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1697909" y="-5120016"/>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6522296" y="8223851"/>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grpSp>
        <p:nvGrpSpPr>
          <p:cNvPr name="Group 4" id="4"/>
          <p:cNvGrpSpPr/>
          <p:nvPr/>
        </p:nvGrpSpPr>
        <p:grpSpPr>
          <a:xfrm rot="0">
            <a:off x="571500" y="2152770"/>
            <a:ext cx="8219527" cy="6556902"/>
            <a:chOff x="0" y="0"/>
            <a:chExt cx="10959369" cy="8742537"/>
          </a:xfrm>
        </p:grpSpPr>
        <p:sp>
          <p:nvSpPr>
            <p:cNvPr name="AutoShape 5" id="5"/>
            <p:cNvSpPr/>
            <p:nvPr/>
          </p:nvSpPr>
          <p:spPr>
            <a:xfrm>
              <a:off x="138969" y="1143847"/>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6" id="6"/>
            <p:cNvSpPr/>
            <p:nvPr/>
          </p:nvSpPr>
          <p:spPr>
            <a:xfrm>
              <a:off x="138969" y="3147874"/>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7" id="7"/>
            <p:cNvSpPr/>
            <p:nvPr/>
          </p:nvSpPr>
          <p:spPr>
            <a:xfrm>
              <a:off x="277938" y="8729837"/>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8" id="8"/>
            <p:cNvSpPr/>
            <p:nvPr/>
          </p:nvSpPr>
          <p:spPr>
            <a:xfrm>
              <a:off x="277938" y="6533584"/>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grpSp>
          <p:nvGrpSpPr>
            <p:cNvPr name="Group 9" id="9"/>
            <p:cNvGrpSpPr/>
            <p:nvPr/>
          </p:nvGrpSpPr>
          <p:grpSpPr>
            <a:xfrm rot="0">
              <a:off x="0" y="1464646"/>
              <a:ext cx="277938" cy="281554"/>
              <a:chOff x="0" y="0"/>
              <a:chExt cx="54901" cy="55616"/>
            </a:xfrm>
          </p:grpSpPr>
          <p:sp>
            <p:nvSpPr>
              <p:cNvPr name="Freeform 10" id="10"/>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1" id="11"/>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0" y="3528608"/>
              <a:ext cx="277938" cy="281554"/>
              <a:chOff x="0" y="0"/>
              <a:chExt cx="54901" cy="55616"/>
            </a:xfrm>
          </p:grpSpPr>
          <p:sp>
            <p:nvSpPr>
              <p:cNvPr name="Freeform 13" id="13"/>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4" id="14"/>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138969" y="7740601"/>
              <a:ext cx="277938" cy="281554"/>
              <a:chOff x="0" y="0"/>
              <a:chExt cx="54901" cy="55616"/>
            </a:xfrm>
          </p:grpSpPr>
          <p:sp>
            <p:nvSpPr>
              <p:cNvPr name="Freeform 16" id="16"/>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7" id="17"/>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sp>
          <p:nvSpPr>
            <p:cNvPr name="TextBox 18" id="18"/>
            <p:cNvSpPr txBox="true"/>
            <p:nvPr/>
          </p:nvSpPr>
          <p:spPr>
            <a:xfrm rot="0">
              <a:off x="0" y="-104775"/>
              <a:ext cx="10141243" cy="1235922"/>
            </a:xfrm>
            <a:prstGeom prst="rect">
              <a:avLst/>
            </a:prstGeom>
          </p:spPr>
          <p:txBody>
            <a:bodyPr anchor="t" rtlCol="false" tIns="0" lIns="0" bIns="0" rIns="0">
              <a:spAutoFit/>
            </a:bodyPr>
            <a:lstStyle/>
            <a:p>
              <a:pPr algn="l">
                <a:lnSpc>
                  <a:spcPts val="7840"/>
                </a:lnSpc>
                <a:spcBef>
                  <a:spcPct val="0"/>
                </a:spcBef>
              </a:pPr>
              <a:r>
                <a:rPr lang="en-US" b="true" sz="5600">
                  <a:solidFill>
                    <a:srgbClr val="0054C5"/>
                  </a:solidFill>
                  <a:latin typeface="Cerebri Bold"/>
                  <a:ea typeface="Cerebri Bold"/>
                  <a:cs typeface="Cerebri Bold"/>
                  <a:sym typeface="Cerebri Bold"/>
                </a:rPr>
                <a:t>Batasan Masalah</a:t>
              </a:r>
            </a:p>
          </p:txBody>
        </p:sp>
        <p:sp>
          <p:nvSpPr>
            <p:cNvPr name="TextBox 19" id="19"/>
            <p:cNvSpPr txBox="true"/>
            <p:nvPr/>
          </p:nvSpPr>
          <p:spPr>
            <a:xfrm rot="0">
              <a:off x="571781" y="1344251"/>
              <a:ext cx="3391542" cy="4842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Fokus Model</a:t>
              </a:r>
            </a:p>
          </p:txBody>
        </p:sp>
        <p:sp>
          <p:nvSpPr>
            <p:cNvPr name="TextBox 20" id="20"/>
            <p:cNvSpPr txBox="true"/>
            <p:nvPr/>
          </p:nvSpPr>
          <p:spPr>
            <a:xfrm rot="0">
              <a:off x="4809990" y="1353776"/>
              <a:ext cx="6010410" cy="2186728"/>
            </a:xfrm>
            <a:prstGeom prst="rect">
              <a:avLst/>
            </a:prstGeom>
          </p:spPr>
          <p:txBody>
            <a:bodyPr anchor="t" rtlCol="false" tIns="0" lIns="0" bIns="0" rIns="0">
              <a:spAutoFit/>
            </a:bodyPr>
            <a:lstStyle/>
            <a:p>
              <a:pPr algn="l">
                <a:lnSpc>
                  <a:spcPts val="2660"/>
                </a:lnSpc>
              </a:pPr>
              <a:r>
                <a:rPr lang="en-US" sz="1900">
                  <a:solidFill>
                    <a:srgbClr val="39352C"/>
                  </a:solidFill>
                  <a:latin typeface="Cerebri"/>
                  <a:ea typeface="Cerebri"/>
                  <a:cs typeface="Cerebri"/>
                  <a:sym typeface="Cerebri"/>
                </a:rPr>
                <a:t>Hanya menggunakan OpenAI Whisper Base (74 Juta parameter). Tidak membandingkan dengan varian lain (Tiny, Small, Medium, Large ataupun turbo).</a:t>
              </a:r>
            </a:p>
            <a:p>
              <a:pPr algn="l">
                <a:lnSpc>
                  <a:spcPts val="2660"/>
                </a:lnSpc>
                <a:spcBef>
                  <a:spcPct val="0"/>
                </a:spcBef>
              </a:pPr>
            </a:p>
          </p:txBody>
        </p:sp>
        <p:sp>
          <p:nvSpPr>
            <p:cNvPr name="TextBox 21" id="21"/>
            <p:cNvSpPr txBox="true"/>
            <p:nvPr/>
          </p:nvSpPr>
          <p:spPr>
            <a:xfrm rot="0">
              <a:off x="4809990" y="3317657"/>
              <a:ext cx="6010410" cy="3520228"/>
            </a:xfrm>
            <a:prstGeom prst="rect">
              <a:avLst/>
            </a:prstGeom>
          </p:spPr>
          <p:txBody>
            <a:bodyPr anchor="t" rtlCol="false" tIns="0" lIns="0" bIns="0" rIns="0">
              <a:spAutoFit/>
            </a:bodyPr>
            <a:lstStyle/>
            <a:p>
              <a:pPr algn="l">
                <a:lnSpc>
                  <a:spcPts val="2660"/>
                </a:lnSpc>
              </a:pPr>
              <a:r>
                <a:rPr lang="en-US" sz="1900">
                  <a:solidFill>
                    <a:srgbClr val="39352C"/>
                  </a:solidFill>
                  <a:latin typeface="Cerebri"/>
                  <a:ea typeface="Cerebri"/>
                  <a:cs typeface="Cerebri"/>
                  <a:sym typeface="Cerebri"/>
                </a:rPr>
                <a:t>Menggunakan data publik LibriVox Indonesia (UDHR).</a:t>
              </a:r>
            </a:p>
            <a:p>
              <a:pPr algn="l" marL="410213" indent="-205106" lvl="1">
                <a:lnSpc>
                  <a:spcPts val="2660"/>
                </a:lnSpc>
                <a:buFont typeface="Arial"/>
                <a:buChar char="•"/>
              </a:pPr>
              <a:r>
                <a:rPr lang="en-US" sz="1900">
                  <a:solidFill>
                    <a:srgbClr val="39352C"/>
                  </a:solidFill>
                  <a:latin typeface="Cerebri"/>
                  <a:ea typeface="Cerebri"/>
                  <a:cs typeface="Cerebri"/>
                  <a:sym typeface="Cerebri"/>
                </a:rPr>
                <a:t>Karakteristik: Extremely low-resource (~1.3 jam audio).</a:t>
              </a:r>
            </a:p>
            <a:p>
              <a:pPr algn="l" marL="410213" indent="-205106" lvl="1">
                <a:lnSpc>
                  <a:spcPts val="2660"/>
                </a:lnSpc>
                <a:buFont typeface="Arial"/>
                <a:buChar char="•"/>
              </a:pPr>
              <a:r>
                <a:rPr lang="en-US" sz="1900">
                  <a:solidFill>
                    <a:srgbClr val="39352C"/>
                  </a:solidFill>
                  <a:latin typeface="Cerebri"/>
                  <a:ea typeface="Cerebri"/>
                  <a:cs typeface="Cerebri"/>
                  <a:sym typeface="Cerebri"/>
                </a:rPr>
                <a:t>Domain: Pembacaan formal teks deklarasi (bukan percakapan spontan/sehari-hari).</a:t>
              </a:r>
            </a:p>
            <a:p>
              <a:pPr algn="l">
                <a:lnSpc>
                  <a:spcPts val="2660"/>
                </a:lnSpc>
                <a:spcBef>
                  <a:spcPct val="0"/>
                </a:spcBef>
              </a:pPr>
            </a:p>
          </p:txBody>
        </p:sp>
        <p:sp>
          <p:nvSpPr>
            <p:cNvPr name="TextBox 22" id="22"/>
            <p:cNvSpPr txBox="true"/>
            <p:nvPr/>
          </p:nvSpPr>
          <p:spPr>
            <a:xfrm rot="0">
              <a:off x="4809990" y="6892109"/>
              <a:ext cx="6010410" cy="1742228"/>
            </a:xfrm>
            <a:prstGeom prst="rect">
              <a:avLst/>
            </a:prstGeom>
          </p:spPr>
          <p:txBody>
            <a:bodyPr anchor="t" rtlCol="false" tIns="0" lIns="0" bIns="0" rIns="0">
              <a:spAutoFit/>
            </a:bodyPr>
            <a:lstStyle/>
            <a:p>
              <a:pPr algn="l">
                <a:lnSpc>
                  <a:spcPts val="2660"/>
                </a:lnSpc>
              </a:pPr>
              <a:r>
                <a:rPr lang="en-US" sz="1900">
                  <a:solidFill>
                    <a:srgbClr val="39352C"/>
                  </a:solidFill>
                  <a:latin typeface="Cerebri"/>
                  <a:ea typeface="Cerebri"/>
                  <a:cs typeface="Cerebri"/>
                  <a:sym typeface="Cerebri"/>
                </a:rPr>
                <a:t>Dibatasi pada komparasi dua metode:</a:t>
              </a:r>
            </a:p>
            <a:p>
              <a:pPr algn="l" marL="410213" indent="-205106" lvl="1">
                <a:lnSpc>
                  <a:spcPts val="2660"/>
                </a:lnSpc>
                <a:buAutoNum type="arabicPeriod" startAt="1"/>
              </a:pPr>
              <a:r>
                <a:rPr lang="en-US" sz="1900">
                  <a:solidFill>
                    <a:srgbClr val="39352C"/>
                  </a:solidFill>
                  <a:latin typeface="Cerebri"/>
                  <a:ea typeface="Cerebri"/>
                  <a:cs typeface="Cerebri"/>
                  <a:sym typeface="Cerebri"/>
                </a:rPr>
                <a:t>Freeze Encoder (Standar).</a:t>
              </a:r>
            </a:p>
            <a:p>
              <a:pPr algn="l" marL="410213" indent="-205106" lvl="1">
                <a:lnSpc>
                  <a:spcPts val="2660"/>
                </a:lnSpc>
                <a:buAutoNum type="arabicPeriod" startAt="1"/>
              </a:pPr>
              <a:r>
                <a:rPr lang="en-US" sz="1900">
                  <a:solidFill>
                    <a:srgbClr val="39352C"/>
                  </a:solidFill>
                  <a:latin typeface="Cerebri"/>
                  <a:ea typeface="Cerebri"/>
                  <a:cs typeface="Cerebri"/>
                  <a:sym typeface="Cerebri"/>
                </a:rPr>
                <a:t>LoRA (Parameter-Efficient)</a:t>
              </a:r>
            </a:p>
            <a:p>
              <a:pPr algn="l">
                <a:lnSpc>
                  <a:spcPts val="2660"/>
                </a:lnSpc>
                <a:spcBef>
                  <a:spcPct val="0"/>
                </a:spcBef>
              </a:pPr>
            </a:p>
          </p:txBody>
        </p:sp>
        <p:sp>
          <p:nvSpPr>
            <p:cNvPr name="TextBox 23" id="23"/>
            <p:cNvSpPr txBox="true"/>
            <p:nvPr/>
          </p:nvSpPr>
          <p:spPr>
            <a:xfrm rot="0">
              <a:off x="571781" y="3408213"/>
              <a:ext cx="4238209" cy="4842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Dataset</a:t>
              </a:r>
            </a:p>
          </p:txBody>
        </p:sp>
        <p:sp>
          <p:nvSpPr>
            <p:cNvPr name="TextBox 24" id="24"/>
            <p:cNvSpPr txBox="true"/>
            <p:nvPr/>
          </p:nvSpPr>
          <p:spPr>
            <a:xfrm rot="0">
              <a:off x="571781" y="7620181"/>
              <a:ext cx="3797942" cy="4842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Strategi Fine-Tuning</a:t>
              </a:r>
            </a:p>
          </p:txBody>
        </p:sp>
      </p:grpSp>
      <p:grpSp>
        <p:nvGrpSpPr>
          <p:cNvPr name="Group 25" id="25"/>
          <p:cNvGrpSpPr/>
          <p:nvPr/>
        </p:nvGrpSpPr>
        <p:grpSpPr>
          <a:xfrm rot="0">
            <a:off x="9144000" y="3001130"/>
            <a:ext cx="8219527" cy="2946554"/>
            <a:chOff x="0" y="0"/>
            <a:chExt cx="10959369" cy="3928738"/>
          </a:xfrm>
        </p:grpSpPr>
        <p:sp>
          <p:nvSpPr>
            <p:cNvPr name="AutoShape 26" id="26"/>
            <p:cNvSpPr/>
            <p:nvPr/>
          </p:nvSpPr>
          <p:spPr>
            <a:xfrm>
              <a:off x="138969" y="12700"/>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27" id="27"/>
            <p:cNvSpPr/>
            <p:nvPr/>
          </p:nvSpPr>
          <p:spPr>
            <a:xfrm>
              <a:off x="138969" y="2016728"/>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28" id="28"/>
            <p:cNvSpPr/>
            <p:nvPr/>
          </p:nvSpPr>
          <p:spPr>
            <a:xfrm>
              <a:off x="277938" y="3650360"/>
              <a:ext cx="10681431" cy="0"/>
            </a:xfrm>
            <a:prstGeom prst="line">
              <a:avLst/>
            </a:prstGeom>
            <a:ln cap="flat" w="2540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grpSp>
          <p:nvGrpSpPr>
            <p:cNvPr name="Group 29" id="29"/>
            <p:cNvGrpSpPr/>
            <p:nvPr/>
          </p:nvGrpSpPr>
          <p:grpSpPr>
            <a:xfrm rot="0">
              <a:off x="0" y="333499"/>
              <a:ext cx="277938" cy="281554"/>
              <a:chOff x="0" y="0"/>
              <a:chExt cx="54901" cy="55616"/>
            </a:xfrm>
          </p:grpSpPr>
          <p:sp>
            <p:nvSpPr>
              <p:cNvPr name="Freeform 30" id="30"/>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31" id="31"/>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grpSp>
          <p:nvGrpSpPr>
            <p:cNvPr name="Group 32" id="32"/>
            <p:cNvGrpSpPr/>
            <p:nvPr/>
          </p:nvGrpSpPr>
          <p:grpSpPr>
            <a:xfrm rot="0">
              <a:off x="0" y="2397462"/>
              <a:ext cx="277938" cy="281554"/>
              <a:chOff x="0" y="0"/>
              <a:chExt cx="54901" cy="55616"/>
            </a:xfrm>
          </p:grpSpPr>
          <p:sp>
            <p:nvSpPr>
              <p:cNvPr name="Freeform 33" id="33"/>
              <p:cNvSpPr/>
              <p:nvPr/>
            </p:nvSpPr>
            <p:spPr>
              <a:xfrm flipH="false" flipV="false" rot="0">
                <a:off x="0" y="0"/>
                <a:ext cx="54901" cy="55616"/>
              </a:xfrm>
              <a:custGeom>
                <a:avLst/>
                <a:gdLst/>
                <a:ahLst/>
                <a:cxnLst/>
                <a:rect r="r" b="b" t="t" l="l"/>
                <a:pathLst>
                  <a:path h="55616" w="54901">
                    <a:moveTo>
                      <a:pt x="0" y="0"/>
                    </a:moveTo>
                    <a:lnTo>
                      <a:pt x="54901" y="0"/>
                    </a:lnTo>
                    <a:lnTo>
                      <a:pt x="54901"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34" id="34"/>
              <p:cNvSpPr txBox="true"/>
              <p:nvPr/>
            </p:nvSpPr>
            <p:spPr>
              <a:xfrm>
                <a:off x="0" y="-38100"/>
                <a:ext cx="54901" cy="93716"/>
              </a:xfrm>
              <a:prstGeom prst="rect">
                <a:avLst/>
              </a:prstGeom>
            </p:spPr>
            <p:txBody>
              <a:bodyPr anchor="ctr" rtlCol="false" tIns="50800" lIns="50800" bIns="50800" rIns="50800"/>
              <a:lstStyle/>
              <a:p>
                <a:pPr algn="ctr">
                  <a:lnSpc>
                    <a:spcPts val="3359"/>
                  </a:lnSpc>
                </a:pPr>
              </a:p>
            </p:txBody>
          </p:sp>
        </p:grpSp>
        <p:sp>
          <p:nvSpPr>
            <p:cNvPr name="TextBox 35" id="35"/>
            <p:cNvSpPr txBox="true"/>
            <p:nvPr/>
          </p:nvSpPr>
          <p:spPr>
            <a:xfrm rot="0">
              <a:off x="571781" y="295399"/>
              <a:ext cx="3391542" cy="10049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Metodologi Evaluasi</a:t>
              </a:r>
            </a:p>
          </p:txBody>
        </p:sp>
        <p:sp>
          <p:nvSpPr>
            <p:cNvPr name="TextBox 36" id="36"/>
            <p:cNvSpPr txBox="true"/>
            <p:nvPr/>
          </p:nvSpPr>
          <p:spPr>
            <a:xfrm rot="0">
              <a:off x="4809990" y="304924"/>
              <a:ext cx="6010410" cy="1297728"/>
            </a:xfrm>
            <a:prstGeom prst="rect">
              <a:avLst/>
            </a:prstGeom>
          </p:spPr>
          <p:txBody>
            <a:bodyPr anchor="t" rtlCol="false" tIns="0" lIns="0" bIns="0" rIns="0">
              <a:spAutoFit/>
            </a:bodyPr>
            <a:lstStyle/>
            <a:p>
              <a:pPr algn="l">
                <a:lnSpc>
                  <a:spcPts val="2660"/>
                </a:lnSpc>
                <a:spcBef>
                  <a:spcPct val="0"/>
                </a:spcBef>
              </a:pPr>
              <a:r>
                <a:rPr lang="en-US" sz="1900">
                  <a:solidFill>
                    <a:srgbClr val="39352C"/>
                  </a:solidFill>
                  <a:latin typeface="Cerebri"/>
                  <a:ea typeface="Cerebri"/>
                  <a:cs typeface="Cerebri"/>
                  <a:sym typeface="Cerebri"/>
                </a:rPr>
                <a:t>Menggunakan 5-Fold Cross-Validation untuk memaksimalkan validitas data yang terbatas.</a:t>
              </a:r>
            </a:p>
          </p:txBody>
        </p:sp>
        <p:sp>
          <p:nvSpPr>
            <p:cNvPr name="TextBox 37" id="37"/>
            <p:cNvSpPr txBox="true"/>
            <p:nvPr/>
          </p:nvSpPr>
          <p:spPr>
            <a:xfrm rot="0">
              <a:off x="4809990" y="2186510"/>
              <a:ext cx="6010410" cy="1742228"/>
            </a:xfrm>
            <a:prstGeom prst="rect">
              <a:avLst/>
            </a:prstGeom>
          </p:spPr>
          <p:txBody>
            <a:bodyPr anchor="t" rtlCol="false" tIns="0" lIns="0" bIns="0" rIns="0">
              <a:spAutoFit/>
            </a:bodyPr>
            <a:lstStyle/>
            <a:p>
              <a:pPr algn="l">
                <a:lnSpc>
                  <a:spcPts val="2660"/>
                </a:lnSpc>
              </a:pPr>
              <a:r>
                <a:rPr lang="en-US" sz="1900">
                  <a:solidFill>
                    <a:srgbClr val="39352C"/>
                  </a:solidFill>
                  <a:latin typeface="Cerebri"/>
                  <a:ea typeface="Cerebri"/>
                  <a:cs typeface="Cerebri"/>
                  <a:sym typeface="Cerebri"/>
                </a:rPr>
                <a:t>Fokus pada performa model (Python/PyTorch), buk</a:t>
              </a:r>
              <a:r>
                <a:rPr lang="en-US" sz="1900">
                  <a:solidFill>
                    <a:srgbClr val="39352C"/>
                  </a:solidFill>
                  <a:latin typeface="Cerebri"/>
                  <a:ea typeface="Cerebri"/>
                  <a:cs typeface="Cerebri"/>
                  <a:sym typeface="Cerebri"/>
                </a:rPr>
                <a:t>an pengembangan aplikasi end-user (Web/Mobile).</a:t>
              </a:r>
            </a:p>
            <a:p>
              <a:pPr algn="l">
                <a:lnSpc>
                  <a:spcPts val="2660"/>
                </a:lnSpc>
                <a:spcBef>
                  <a:spcPct val="0"/>
                </a:spcBef>
              </a:pPr>
            </a:p>
          </p:txBody>
        </p:sp>
        <p:sp>
          <p:nvSpPr>
            <p:cNvPr name="TextBox 38" id="38"/>
            <p:cNvSpPr txBox="true"/>
            <p:nvPr/>
          </p:nvSpPr>
          <p:spPr>
            <a:xfrm rot="0">
              <a:off x="571781" y="2277067"/>
              <a:ext cx="3205276" cy="1004993"/>
            </a:xfrm>
            <a:prstGeom prst="rect">
              <a:avLst/>
            </a:prstGeom>
          </p:spPr>
          <p:txBody>
            <a:bodyPr anchor="t" rtlCol="false" tIns="0" lIns="0" bIns="0" rIns="0">
              <a:spAutoFit/>
            </a:bodyPr>
            <a:lstStyle/>
            <a:p>
              <a:pPr algn="l">
                <a:lnSpc>
                  <a:spcPts val="3080"/>
                </a:lnSpc>
                <a:spcBef>
                  <a:spcPct val="0"/>
                </a:spcBef>
              </a:pPr>
              <a:r>
                <a:rPr lang="en-US" sz="2200" b="true">
                  <a:solidFill>
                    <a:srgbClr val="39352C"/>
                  </a:solidFill>
                  <a:latin typeface="Cerebri Bold"/>
                  <a:ea typeface="Cerebri Bold"/>
                  <a:cs typeface="Cerebri Bold"/>
                  <a:sym typeface="Cerebri Bold"/>
                </a:rPr>
                <a:t>Lingkup Implementasi</a:t>
              </a:r>
            </a:p>
          </p:txBody>
        </p:sp>
      </p:grpSp>
      <p:grpSp>
        <p:nvGrpSpPr>
          <p:cNvPr name="Group 39" id="39"/>
          <p:cNvGrpSpPr/>
          <p:nvPr/>
        </p:nvGrpSpPr>
        <p:grpSpPr>
          <a:xfrm rot="0">
            <a:off x="1028700" y="-17690"/>
            <a:ext cx="16230600" cy="1205443"/>
            <a:chOff x="0" y="0"/>
            <a:chExt cx="21640800" cy="1607257"/>
          </a:xfrm>
        </p:grpSpPr>
        <p:sp>
          <p:nvSpPr>
            <p:cNvPr name="AutoShape 40" id="40"/>
            <p:cNvSpPr/>
            <p:nvPr/>
          </p:nvSpPr>
          <p:spPr>
            <a:xfrm>
              <a:off x="4131137" y="864701"/>
              <a:ext cx="13915256" cy="0"/>
            </a:xfrm>
            <a:prstGeom prst="line">
              <a:avLst/>
            </a:prstGeom>
            <a:ln cap="flat" w="25400">
              <a:solidFill>
                <a:srgbClr val="39352C"/>
              </a:solidFill>
              <a:prstDash val="solid"/>
              <a:headEnd type="none" len="sm" w="sm"/>
              <a:tailEnd type="none" len="sm" w="sm"/>
            </a:ln>
          </p:spPr>
        </p:sp>
        <p:sp>
          <p:nvSpPr>
            <p:cNvPr name="TextBox 41" id="41"/>
            <p:cNvSpPr txBox="true"/>
            <p:nvPr/>
          </p:nvSpPr>
          <p:spPr>
            <a:xfrm rot="0">
              <a:off x="18046393" y="625517"/>
              <a:ext cx="3594407" cy="440267"/>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42" id="42"/>
            <p:cNvSpPr txBox="true"/>
            <p:nvPr/>
          </p:nvSpPr>
          <p:spPr>
            <a:xfrm rot="0">
              <a:off x="0" y="625517"/>
              <a:ext cx="4131137" cy="440266"/>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
          <p:nvSpPr>
            <p:cNvPr name="Freeform 43" id="43"/>
            <p:cNvSpPr/>
            <p:nvPr/>
          </p:nvSpPr>
          <p:spPr>
            <a:xfrm flipH="false" flipV="false" rot="0">
              <a:off x="8783553" y="0"/>
              <a:ext cx="4073693" cy="1607257"/>
            </a:xfrm>
            <a:custGeom>
              <a:avLst/>
              <a:gdLst/>
              <a:ahLst/>
              <a:cxnLst/>
              <a:rect r="r" b="b" t="t" l="l"/>
              <a:pathLst>
                <a:path h="1607257" w="4073693">
                  <a:moveTo>
                    <a:pt x="0" y="0"/>
                  </a:moveTo>
                  <a:lnTo>
                    <a:pt x="4073694" y="0"/>
                  </a:lnTo>
                  <a:lnTo>
                    <a:pt x="4073694" y="1607257"/>
                  </a:lnTo>
                  <a:lnTo>
                    <a:pt x="0" y="1607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4" id="44"/>
            <p:cNvSpPr/>
            <p:nvPr/>
          </p:nvSpPr>
          <p:spPr>
            <a:xfrm flipH="false" flipV="false" rot="0">
              <a:off x="10061758"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6"/>
              <a:stretch>
                <a:fillRect l="0" t="0" r="0" b="0"/>
              </a:stretch>
            </a:blipFill>
          </p:spPr>
        </p:sp>
        <p:sp>
          <p:nvSpPr>
            <p:cNvPr name="Freeform 45" id="45"/>
            <p:cNvSpPr/>
            <p:nvPr/>
          </p:nvSpPr>
          <p:spPr>
            <a:xfrm flipH="false" flipV="false" rot="0">
              <a:off x="10820400"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7"/>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1697909" y="-5120016"/>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6522296" y="8223851"/>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graphicFrame>
        <p:nvGraphicFramePr>
          <p:cNvPr name="Object 4" id="4"/>
          <p:cNvGraphicFramePr/>
          <p:nvPr/>
        </p:nvGraphicFramePr>
        <p:xfrm>
          <a:off x="571500" y="3243476"/>
          <a:ext cx="5657850" cy="3143250"/>
        </p:xfrm>
        <a:graphic>
          <a:graphicData uri="http://schemas.openxmlformats.org/presentationml/2006/ole">
            <p:oleObj imgW="6781800" imgH="4267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5" id="5"/>
          <p:cNvSpPr txBox="true"/>
          <p:nvPr/>
        </p:nvSpPr>
        <p:spPr>
          <a:xfrm rot="0">
            <a:off x="571500" y="2047995"/>
            <a:ext cx="7605932" cy="953135"/>
          </a:xfrm>
          <a:prstGeom prst="rect">
            <a:avLst/>
          </a:prstGeom>
        </p:spPr>
        <p:txBody>
          <a:bodyPr anchor="t" rtlCol="false" tIns="0" lIns="0" bIns="0" rIns="0">
            <a:spAutoFit/>
          </a:bodyPr>
          <a:lstStyle/>
          <a:p>
            <a:pPr algn="l">
              <a:lnSpc>
                <a:spcPts val="7840"/>
              </a:lnSpc>
              <a:spcBef>
                <a:spcPct val="0"/>
              </a:spcBef>
            </a:pPr>
            <a:r>
              <a:rPr lang="en-US" b="true" sz="5600">
                <a:solidFill>
                  <a:srgbClr val="0054C5"/>
                </a:solidFill>
                <a:latin typeface="Cerebri Bold"/>
                <a:ea typeface="Cerebri Bold"/>
                <a:cs typeface="Cerebri Bold"/>
                <a:sym typeface="Cerebri Bold"/>
              </a:rPr>
              <a:t>Tinjauan Pustaka</a:t>
            </a:r>
          </a:p>
        </p:txBody>
      </p:sp>
      <p:grpSp>
        <p:nvGrpSpPr>
          <p:cNvPr name="Group 6" id="6"/>
          <p:cNvGrpSpPr/>
          <p:nvPr/>
        </p:nvGrpSpPr>
        <p:grpSpPr>
          <a:xfrm rot="0">
            <a:off x="11346683" y="3243476"/>
            <a:ext cx="5804572" cy="2305671"/>
            <a:chOff x="0" y="0"/>
            <a:chExt cx="7739429" cy="3074227"/>
          </a:xfrm>
        </p:grpSpPr>
        <p:grpSp>
          <p:nvGrpSpPr>
            <p:cNvPr name="Group 7" id="7"/>
            <p:cNvGrpSpPr/>
            <p:nvPr/>
          </p:nvGrpSpPr>
          <p:grpSpPr>
            <a:xfrm rot="0">
              <a:off x="440956" y="0"/>
              <a:ext cx="7298474" cy="3074227"/>
              <a:chOff x="0" y="0"/>
              <a:chExt cx="1441674" cy="607255"/>
            </a:xfrm>
          </p:grpSpPr>
          <p:sp>
            <p:nvSpPr>
              <p:cNvPr name="Freeform 8" id="8"/>
              <p:cNvSpPr/>
              <p:nvPr/>
            </p:nvSpPr>
            <p:spPr>
              <a:xfrm flipH="false" flipV="false" rot="0">
                <a:off x="0" y="0"/>
                <a:ext cx="1441674" cy="607255"/>
              </a:xfrm>
              <a:custGeom>
                <a:avLst/>
                <a:gdLst/>
                <a:ahLst/>
                <a:cxnLst/>
                <a:rect r="r" b="b" t="t" l="l"/>
                <a:pathLst>
                  <a:path h="607255" w="1441674">
                    <a:moveTo>
                      <a:pt x="42430" y="0"/>
                    </a:moveTo>
                    <a:lnTo>
                      <a:pt x="1399243" y="0"/>
                    </a:lnTo>
                    <a:cubicBezTo>
                      <a:pt x="1422677" y="0"/>
                      <a:pt x="1441674" y="18997"/>
                      <a:pt x="1441674" y="42430"/>
                    </a:cubicBezTo>
                    <a:lnTo>
                      <a:pt x="1441674" y="564824"/>
                    </a:lnTo>
                    <a:cubicBezTo>
                      <a:pt x="1441674" y="588258"/>
                      <a:pt x="1422677" y="607255"/>
                      <a:pt x="1399243" y="607255"/>
                    </a:cubicBezTo>
                    <a:lnTo>
                      <a:pt x="42430" y="607255"/>
                    </a:lnTo>
                    <a:cubicBezTo>
                      <a:pt x="31177" y="607255"/>
                      <a:pt x="20385" y="602784"/>
                      <a:pt x="12428" y="594827"/>
                    </a:cubicBezTo>
                    <a:cubicBezTo>
                      <a:pt x="4470" y="586870"/>
                      <a:pt x="0" y="576078"/>
                      <a:pt x="0" y="564824"/>
                    </a:cubicBezTo>
                    <a:lnTo>
                      <a:pt x="0" y="42430"/>
                    </a:lnTo>
                    <a:cubicBezTo>
                      <a:pt x="0" y="18997"/>
                      <a:pt x="18997" y="0"/>
                      <a:pt x="42430"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9" id="9"/>
              <p:cNvSpPr txBox="true"/>
              <p:nvPr/>
            </p:nvSpPr>
            <p:spPr>
              <a:xfrm>
                <a:off x="0" y="-38100"/>
                <a:ext cx="1441674" cy="645355"/>
              </a:xfrm>
              <a:prstGeom prst="rect">
                <a:avLst/>
              </a:prstGeom>
            </p:spPr>
            <p:txBody>
              <a:bodyPr anchor="ctr" rtlCol="false" tIns="50800" lIns="50800" bIns="50800" rIns="50800"/>
              <a:lstStyle/>
              <a:p>
                <a:pPr algn="just">
                  <a:lnSpc>
                    <a:spcPts val="2800"/>
                  </a:lnSpc>
                </a:pPr>
                <a:r>
                  <a:rPr lang="en-US" sz="2000">
                    <a:solidFill>
                      <a:srgbClr val="39352C"/>
                    </a:solidFill>
                    <a:latin typeface="Cerebri"/>
                    <a:ea typeface="Cerebri"/>
                    <a:cs typeface="Cerebri"/>
                    <a:sym typeface="Cerebri"/>
                  </a:rPr>
                  <a:t>Literatur ASR di Indonesia saat ini masih didominasi oleh Bahasa Indonesia standar atau dialek besar seperti Jawa dan Sunda, sedangkan kontribusi penelitian untuk Bahasa daerah lain seperti Minangkabau masih sangat sedikit.</a:t>
                </a:r>
              </a:p>
            </p:txBody>
          </p:sp>
        </p:grpSp>
        <p:grpSp>
          <p:nvGrpSpPr>
            <p:cNvPr name="Group 10" id="10"/>
            <p:cNvGrpSpPr/>
            <p:nvPr/>
          </p:nvGrpSpPr>
          <p:grpSpPr>
            <a:xfrm rot="0">
              <a:off x="0" y="308512"/>
              <a:ext cx="281554" cy="281554"/>
              <a:chOff x="0" y="0"/>
              <a:chExt cx="55616" cy="55616"/>
            </a:xfrm>
          </p:grpSpPr>
          <p:sp>
            <p:nvSpPr>
              <p:cNvPr name="Freeform 11" id="11"/>
              <p:cNvSpPr/>
              <p:nvPr/>
            </p:nvSpPr>
            <p:spPr>
              <a:xfrm flipH="false" flipV="false" rot="0">
                <a:off x="0" y="0"/>
                <a:ext cx="55616" cy="55616"/>
              </a:xfrm>
              <a:custGeom>
                <a:avLst/>
                <a:gdLst/>
                <a:ahLst/>
                <a:cxnLst/>
                <a:rect r="r" b="b" t="t" l="l"/>
                <a:pathLst>
                  <a:path h="55616" w="55616">
                    <a:moveTo>
                      <a:pt x="0" y="0"/>
                    </a:moveTo>
                    <a:lnTo>
                      <a:pt x="55616" y="0"/>
                    </a:lnTo>
                    <a:lnTo>
                      <a:pt x="55616" y="55616"/>
                    </a:lnTo>
                    <a:lnTo>
                      <a:pt x="0" y="55616"/>
                    </a:lnTo>
                    <a:close/>
                  </a:path>
                </a:pathLst>
              </a:custGeom>
              <a:solidFill>
                <a:srgbClr val="0054C5"/>
              </a:solidFill>
            </p:spPr>
          </p:sp>
          <p:sp>
            <p:nvSpPr>
              <p:cNvPr name="TextBox 12" id="12"/>
              <p:cNvSpPr txBox="true"/>
              <p:nvPr/>
            </p:nvSpPr>
            <p:spPr>
              <a:xfrm>
                <a:off x="0" y="-38100"/>
                <a:ext cx="55616" cy="93716"/>
              </a:xfrm>
              <a:prstGeom prst="rect">
                <a:avLst/>
              </a:prstGeom>
            </p:spPr>
            <p:txBody>
              <a:bodyPr anchor="ctr" rtlCol="false" tIns="50800" lIns="50800" bIns="50800" rIns="50800"/>
              <a:lstStyle/>
              <a:p>
                <a:pPr algn="ctr">
                  <a:lnSpc>
                    <a:spcPts val="3359"/>
                  </a:lnSpc>
                </a:pPr>
              </a:p>
            </p:txBody>
          </p:sp>
        </p:grpSp>
      </p:grpSp>
      <p:sp>
        <p:nvSpPr>
          <p:cNvPr name="TextBox 13" id="13"/>
          <p:cNvSpPr txBox="true"/>
          <p:nvPr/>
        </p:nvSpPr>
        <p:spPr>
          <a:xfrm rot="0">
            <a:off x="11912948" y="2047995"/>
            <a:ext cx="4888132" cy="953135"/>
          </a:xfrm>
          <a:prstGeom prst="rect">
            <a:avLst/>
          </a:prstGeom>
        </p:spPr>
        <p:txBody>
          <a:bodyPr anchor="t" rtlCol="false" tIns="0" lIns="0" bIns="0" rIns="0">
            <a:spAutoFit/>
          </a:bodyPr>
          <a:lstStyle/>
          <a:p>
            <a:pPr algn="l">
              <a:lnSpc>
                <a:spcPts val="7840"/>
              </a:lnSpc>
              <a:spcBef>
                <a:spcPct val="0"/>
              </a:spcBef>
            </a:pPr>
            <a:r>
              <a:rPr lang="en-US" b="true" sz="5600">
                <a:solidFill>
                  <a:srgbClr val="0054C5"/>
                </a:solidFill>
                <a:latin typeface="Cerebri Bold"/>
                <a:ea typeface="Cerebri Bold"/>
                <a:cs typeface="Cerebri Bold"/>
                <a:sym typeface="Cerebri Bold"/>
              </a:rPr>
              <a:t>Research Gap</a:t>
            </a:r>
          </a:p>
        </p:txBody>
      </p:sp>
      <p:grpSp>
        <p:nvGrpSpPr>
          <p:cNvPr name="Group 14" id="14"/>
          <p:cNvGrpSpPr/>
          <p:nvPr/>
        </p:nvGrpSpPr>
        <p:grpSpPr>
          <a:xfrm rot="0">
            <a:off x="11346683" y="5918181"/>
            <a:ext cx="5804572" cy="2305671"/>
            <a:chOff x="0" y="0"/>
            <a:chExt cx="7739429" cy="3074227"/>
          </a:xfrm>
        </p:grpSpPr>
        <p:grpSp>
          <p:nvGrpSpPr>
            <p:cNvPr name="Group 15" id="15"/>
            <p:cNvGrpSpPr/>
            <p:nvPr/>
          </p:nvGrpSpPr>
          <p:grpSpPr>
            <a:xfrm rot="0">
              <a:off x="440956" y="0"/>
              <a:ext cx="7298474" cy="3074227"/>
              <a:chOff x="0" y="0"/>
              <a:chExt cx="1441674" cy="607255"/>
            </a:xfrm>
          </p:grpSpPr>
          <p:sp>
            <p:nvSpPr>
              <p:cNvPr name="Freeform 16" id="16"/>
              <p:cNvSpPr/>
              <p:nvPr/>
            </p:nvSpPr>
            <p:spPr>
              <a:xfrm flipH="false" flipV="false" rot="0">
                <a:off x="0" y="0"/>
                <a:ext cx="1441674" cy="607255"/>
              </a:xfrm>
              <a:custGeom>
                <a:avLst/>
                <a:gdLst/>
                <a:ahLst/>
                <a:cxnLst/>
                <a:rect r="r" b="b" t="t" l="l"/>
                <a:pathLst>
                  <a:path h="607255" w="1441674">
                    <a:moveTo>
                      <a:pt x="42430" y="0"/>
                    </a:moveTo>
                    <a:lnTo>
                      <a:pt x="1399243" y="0"/>
                    </a:lnTo>
                    <a:cubicBezTo>
                      <a:pt x="1422677" y="0"/>
                      <a:pt x="1441674" y="18997"/>
                      <a:pt x="1441674" y="42430"/>
                    </a:cubicBezTo>
                    <a:lnTo>
                      <a:pt x="1441674" y="564824"/>
                    </a:lnTo>
                    <a:cubicBezTo>
                      <a:pt x="1441674" y="588258"/>
                      <a:pt x="1422677" y="607255"/>
                      <a:pt x="1399243" y="607255"/>
                    </a:cubicBezTo>
                    <a:lnTo>
                      <a:pt x="42430" y="607255"/>
                    </a:lnTo>
                    <a:cubicBezTo>
                      <a:pt x="31177" y="607255"/>
                      <a:pt x="20385" y="602784"/>
                      <a:pt x="12428" y="594827"/>
                    </a:cubicBezTo>
                    <a:cubicBezTo>
                      <a:pt x="4470" y="586870"/>
                      <a:pt x="0" y="576078"/>
                      <a:pt x="0" y="564824"/>
                    </a:cubicBezTo>
                    <a:lnTo>
                      <a:pt x="0" y="42430"/>
                    </a:lnTo>
                    <a:cubicBezTo>
                      <a:pt x="0" y="18997"/>
                      <a:pt x="18997" y="0"/>
                      <a:pt x="42430"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17" id="17"/>
              <p:cNvSpPr txBox="true"/>
              <p:nvPr/>
            </p:nvSpPr>
            <p:spPr>
              <a:xfrm>
                <a:off x="0" y="-38100"/>
                <a:ext cx="1441674" cy="645355"/>
              </a:xfrm>
              <a:prstGeom prst="rect">
                <a:avLst/>
              </a:prstGeom>
            </p:spPr>
            <p:txBody>
              <a:bodyPr anchor="ctr" rtlCol="false" tIns="50800" lIns="50800" bIns="50800" rIns="50800"/>
              <a:lstStyle/>
              <a:p>
                <a:pPr algn="just">
                  <a:lnSpc>
                    <a:spcPts val="2800"/>
                  </a:lnSpc>
                </a:pPr>
                <a:r>
                  <a:rPr lang="en-US" sz="2000">
                    <a:solidFill>
                      <a:srgbClr val="39352C"/>
                    </a:solidFill>
                    <a:latin typeface="Cerebri"/>
                    <a:ea typeface="Cerebri"/>
                    <a:cs typeface="Cerebri"/>
                    <a:sym typeface="Cerebri"/>
                  </a:rPr>
                  <a:t>Belum ada studi yang secara komprehensif membandingkan strategi Freeze Encoder (pendekatan standar) melawan LoRA (pendekatan efisien parameter) secara spesifik untuk adaptasi model Whisper Base pada Bahasa Minangkabau.</a:t>
                </a:r>
              </a:p>
            </p:txBody>
          </p:sp>
        </p:grpSp>
        <p:grpSp>
          <p:nvGrpSpPr>
            <p:cNvPr name="Group 18" id="18"/>
            <p:cNvGrpSpPr/>
            <p:nvPr/>
          </p:nvGrpSpPr>
          <p:grpSpPr>
            <a:xfrm rot="0">
              <a:off x="0" y="308512"/>
              <a:ext cx="281554" cy="281554"/>
              <a:chOff x="0" y="0"/>
              <a:chExt cx="55616" cy="55616"/>
            </a:xfrm>
          </p:grpSpPr>
          <p:sp>
            <p:nvSpPr>
              <p:cNvPr name="Freeform 19" id="19"/>
              <p:cNvSpPr/>
              <p:nvPr/>
            </p:nvSpPr>
            <p:spPr>
              <a:xfrm flipH="false" flipV="false" rot="0">
                <a:off x="0" y="0"/>
                <a:ext cx="55616" cy="55616"/>
              </a:xfrm>
              <a:custGeom>
                <a:avLst/>
                <a:gdLst/>
                <a:ahLst/>
                <a:cxnLst/>
                <a:rect r="r" b="b" t="t" l="l"/>
                <a:pathLst>
                  <a:path h="55616" w="55616">
                    <a:moveTo>
                      <a:pt x="0" y="0"/>
                    </a:moveTo>
                    <a:lnTo>
                      <a:pt x="55616" y="0"/>
                    </a:lnTo>
                    <a:lnTo>
                      <a:pt x="55616" y="55616"/>
                    </a:lnTo>
                    <a:lnTo>
                      <a:pt x="0" y="55616"/>
                    </a:lnTo>
                    <a:close/>
                  </a:path>
                </a:pathLst>
              </a:custGeom>
              <a:solidFill>
                <a:srgbClr val="0054C5"/>
              </a:solidFill>
            </p:spPr>
          </p:sp>
          <p:sp>
            <p:nvSpPr>
              <p:cNvPr name="TextBox 20" id="20"/>
              <p:cNvSpPr txBox="true"/>
              <p:nvPr/>
            </p:nvSpPr>
            <p:spPr>
              <a:xfrm>
                <a:off x="0" y="-38100"/>
                <a:ext cx="55616" cy="93716"/>
              </a:xfrm>
              <a:prstGeom prst="rect">
                <a:avLst/>
              </a:prstGeom>
            </p:spPr>
            <p:txBody>
              <a:bodyPr anchor="ctr" rtlCol="false" tIns="50800" lIns="50800" bIns="50800" rIns="50800"/>
              <a:lstStyle/>
              <a:p>
                <a:pPr algn="ctr">
                  <a:lnSpc>
                    <a:spcPts val="3359"/>
                  </a:lnSpc>
                </a:pPr>
              </a:p>
            </p:txBody>
          </p:sp>
        </p:grpSp>
      </p:grpSp>
      <p:grpSp>
        <p:nvGrpSpPr>
          <p:cNvPr name="Group 21" id="21"/>
          <p:cNvGrpSpPr/>
          <p:nvPr/>
        </p:nvGrpSpPr>
        <p:grpSpPr>
          <a:xfrm rot="0">
            <a:off x="1028700" y="-17690"/>
            <a:ext cx="16230600" cy="1205443"/>
            <a:chOff x="0" y="0"/>
            <a:chExt cx="21640800" cy="1607257"/>
          </a:xfrm>
        </p:grpSpPr>
        <p:sp>
          <p:nvSpPr>
            <p:cNvPr name="AutoShape 22" id="22"/>
            <p:cNvSpPr/>
            <p:nvPr/>
          </p:nvSpPr>
          <p:spPr>
            <a:xfrm>
              <a:off x="4131137" y="864701"/>
              <a:ext cx="13915256" cy="0"/>
            </a:xfrm>
            <a:prstGeom prst="line">
              <a:avLst/>
            </a:prstGeom>
            <a:ln cap="flat" w="25400">
              <a:solidFill>
                <a:srgbClr val="39352C"/>
              </a:solidFill>
              <a:prstDash val="solid"/>
              <a:headEnd type="none" len="sm" w="sm"/>
              <a:tailEnd type="none" len="sm" w="sm"/>
            </a:ln>
          </p:spPr>
        </p:sp>
        <p:sp>
          <p:nvSpPr>
            <p:cNvPr name="TextBox 23" id="23"/>
            <p:cNvSpPr txBox="true"/>
            <p:nvPr/>
          </p:nvSpPr>
          <p:spPr>
            <a:xfrm rot="0">
              <a:off x="18046393" y="625517"/>
              <a:ext cx="3594407" cy="440267"/>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24" id="24"/>
            <p:cNvSpPr txBox="true"/>
            <p:nvPr/>
          </p:nvSpPr>
          <p:spPr>
            <a:xfrm rot="0">
              <a:off x="0" y="625517"/>
              <a:ext cx="4131137" cy="440266"/>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
          <p:nvSpPr>
            <p:cNvPr name="Freeform 25" id="25"/>
            <p:cNvSpPr/>
            <p:nvPr/>
          </p:nvSpPr>
          <p:spPr>
            <a:xfrm flipH="false" flipV="false" rot="0">
              <a:off x="8783553" y="0"/>
              <a:ext cx="4073693" cy="1607257"/>
            </a:xfrm>
            <a:custGeom>
              <a:avLst/>
              <a:gdLst/>
              <a:ahLst/>
              <a:cxnLst/>
              <a:rect r="r" b="b" t="t" l="l"/>
              <a:pathLst>
                <a:path h="1607257" w="4073693">
                  <a:moveTo>
                    <a:pt x="0" y="0"/>
                  </a:moveTo>
                  <a:lnTo>
                    <a:pt x="4073694" y="0"/>
                  </a:lnTo>
                  <a:lnTo>
                    <a:pt x="4073694" y="1607257"/>
                  </a:lnTo>
                  <a:lnTo>
                    <a:pt x="0" y="1607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0061758"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8"/>
              <a:stretch>
                <a:fillRect l="0" t="0" r="0" b="0"/>
              </a:stretch>
            </a:blipFill>
          </p:spPr>
        </p:sp>
        <p:sp>
          <p:nvSpPr>
            <p:cNvPr name="Freeform 27" id="27"/>
            <p:cNvSpPr/>
            <p:nvPr/>
          </p:nvSpPr>
          <p:spPr>
            <a:xfrm flipH="false" flipV="false" rot="0">
              <a:off x="10820400"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9"/>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4274147" y="-4132490"/>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526264" y="8858743"/>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sp>
        <p:nvSpPr>
          <p:cNvPr name="TextBox 4" id="4"/>
          <p:cNvSpPr txBox="true"/>
          <p:nvPr/>
        </p:nvSpPr>
        <p:spPr>
          <a:xfrm rot="0">
            <a:off x="4932770" y="1209675"/>
            <a:ext cx="8422459" cy="953135"/>
          </a:xfrm>
          <a:prstGeom prst="rect">
            <a:avLst/>
          </a:prstGeom>
        </p:spPr>
        <p:txBody>
          <a:bodyPr anchor="t" rtlCol="false" tIns="0" lIns="0" bIns="0" rIns="0">
            <a:spAutoFit/>
          </a:bodyPr>
          <a:lstStyle/>
          <a:p>
            <a:pPr algn="ctr">
              <a:lnSpc>
                <a:spcPts val="7840"/>
              </a:lnSpc>
              <a:spcBef>
                <a:spcPct val="0"/>
              </a:spcBef>
            </a:pPr>
            <a:r>
              <a:rPr lang="en-US" b="true" sz="5600">
                <a:solidFill>
                  <a:srgbClr val="0054C5"/>
                </a:solidFill>
                <a:latin typeface="Cerebri Bold"/>
                <a:ea typeface="Cerebri Bold"/>
                <a:cs typeface="Cerebri Bold"/>
                <a:sym typeface="Cerebri Bold"/>
              </a:rPr>
              <a:t>Dasar Teori</a:t>
            </a:r>
          </a:p>
        </p:txBody>
      </p:sp>
      <p:grpSp>
        <p:nvGrpSpPr>
          <p:cNvPr name="Group 5" id="5"/>
          <p:cNvGrpSpPr/>
          <p:nvPr/>
        </p:nvGrpSpPr>
        <p:grpSpPr>
          <a:xfrm rot="0">
            <a:off x="550240" y="2267585"/>
            <a:ext cx="8450765" cy="7250340"/>
            <a:chOff x="0" y="0"/>
            <a:chExt cx="11267687" cy="9667120"/>
          </a:xfrm>
        </p:grpSpPr>
        <p:grpSp>
          <p:nvGrpSpPr>
            <p:cNvPr name="Group 6" id="6"/>
            <p:cNvGrpSpPr/>
            <p:nvPr/>
          </p:nvGrpSpPr>
          <p:grpSpPr>
            <a:xfrm rot="0">
              <a:off x="0" y="8344856"/>
              <a:ext cx="11267687" cy="1322265"/>
              <a:chOff x="0" y="0"/>
              <a:chExt cx="1242769" cy="145839"/>
            </a:xfrm>
          </p:grpSpPr>
          <p:sp>
            <p:nvSpPr>
              <p:cNvPr name="Freeform 7" id="7"/>
              <p:cNvSpPr/>
              <p:nvPr/>
            </p:nvSpPr>
            <p:spPr>
              <a:xfrm flipH="false" flipV="false" rot="0">
                <a:off x="0" y="0"/>
                <a:ext cx="1242769" cy="145839"/>
              </a:xfrm>
              <a:custGeom>
                <a:avLst/>
                <a:gdLst/>
                <a:ahLst/>
                <a:cxnLst/>
                <a:rect r="r" b="b" t="t" l="l"/>
                <a:pathLst>
                  <a:path h="145839" w="1242769">
                    <a:moveTo>
                      <a:pt x="34455" y="0"/>
                    </a:moveTo>
                    <a:lnTo>
                      <a:pt x="1208314" y="0"/>
                    </a:lnTo>
                    <a:cubicBezTo>
                      <a:pt x="1227343" y="0"/>
                      <a:pt x="1242769" y="15426"/>
                      <a:pt x="1242769" y="34455"/>
                    </a:cubicBezTo>
                    <a:lnTo>
                      <a:pt x="1242769" y="111384"/>
                    </a:lnTo>
                    <a:cubicBezTo>
                      <a:pt x="1242769" y="130413"/>
                      <a:pt x="1227343" y="145839"/>
                      <a:pt x="1208314" y="145839"/>
                    </a:cubicBezTo>
                    <a:lnTo>
                      <a:pt x="34455" y="145839"/>
                    </a:lnTo>
                    <a:cubicBezTo>
                      <a:pt x="15426" y="145839"/>
                      <a:pt x="0" y="130413"/>
                      <a:pt x="0" y="111384"/>
                    </a:cubicBezTo>
                    <a:lnTo>
                      <a:pt x="0" y="34455"/>
                    </a:lnTo>
                    <a:cubicBezTo>
                      <a:pt x="0" y="15426"/>
                      <a:pt x="15426" y="0"/>
                      <a:pt x="34455" y="0"/>
                    </a:cubicBez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8" id="8"/>
              <p:cNvSpPr txBox="true"/>
              <p:nvPr/>
            </p:nvSpPr>
            <p:spPr>
              <a:xfrm>
                <a:off x="0" y="-38100"/>
                <a:ext cx="1242769" cy="183939"/>
              </a:xfrm>
              <a:prstGeom prst="rect">
                <a:avLst/>
              </a:prstGeom>
            </p:spPr>
            <p:txBody>
              <a:bodyPr anchor="ctr" rtlCol="false" tIns="50800" lIns="50800" bIns="50800" rIns="50800"/>
              <a:lstStyle/>
              <a:p>
                <a:pPr algn="ctr">
                  <a:lnSpc>
                    <a:spcPts val="3080"/>
                  </a:lnSpc>
                </a:pPr>
              </a:p>
            </p:txBody>
          </p:sp>
        </p:grpSp>
        <p:grpSp>
          <p:nvGrpSpPr>
            <p:cNvPr name="Group 9" id="9"/>
            <p:cNvGrpSpPr/>
            <p:nvPr/>
          </p:nvGrpSpPr>
          <p:grpSpPr>
            <a:xfrm rot="0">
              <a:off x="0" y="2951733"/>
              <a:ext cx="11267687" cy="5122011"/>
              <a:chOff x="0" y="0"/>
              <a:chExt cx="1242769" cy="564932"/>
            </a:xfrm>
          </p:grpSpPr>
          <p:sp>
            <p:nvSpPr>
              <p:cNvPr name="Freeform 10" id="10"/>
              <p:cNvSpPr/>
              <p:nvPr/>
            </p:nvSpPr>
            <p:spPr>
              <a:xfrm flipH="false" flipV="false" rot="0">
                <a:off x="0" y="0"/>
                <a:ext cx="1242769" cy="564932"/>
              </a:xfrm>
              <a:custGeom>
                <a:avLst/>
                <a:gdLst/>
                <a:ahLst/>
                <a:cxnLst/>
                <a:rect r="r" b="b" t="t" l="l"/>
                <a:pathLst>
                  <a:path h="564932" w="1242769">
                    <a:moveTo>
                      <a:pt x="34455" y="0"/>
                    </a:moveTo>
                    <a:lnTo>
                      <a:pt x="1208314" y="0"/>
                    </a:lnTo>
                    <a:cubicBezTo>
                      <a:pt x="1227343" y="0"/>
                      <a:pt x="1242769" y="15426"/>
                      <a:pt x="1242769" y="34455"/>
                    </a:cubicBezTo>
                    <a:lnTo>
                      <a:pt x="1242769" y="530477"/>
                    </a:lnTo>
                    <a:cubicBezTo>
                      <a:pt x="1242769" y="549506"/>
                      <a:pt x="1227343" y="564932"/>
                      <a:pt x="1208314" y="564932"/>
                    </a:cubicBezTo>
                    <a:lnTo>
                      <a:pt x="34455" y="564932"/>
                    </a:lnTo>
                    <a:cubicBezTo>
                      <a:pt x="15426" y="564932"/>
                      <a:pt x="0" y="549506"/>
                      <a:pt x="0" y="530477"/>
                    </a:cubicBezTo>
                    <a:lnTo>
                      <a:pt x="0" y="34455"/>
                    </a:lnTo>
                    <a:cubicBezTo>
                      <a:pt x="0" y="15426"/>
                      <a:pt x="15426" y="0"/>
                      <a:pt x="34455"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11" id="11"/>
              <p:cNvSpPr txBox="true"/>
              <p:nvPr/>
            </p:nvSpPr>
            <p:spPr>
              <a:xfrm>
                <a:off x="0" y="-38100"/>
                <a:ext cx="1242769" cy="603032"/>
              </a:xfrm>
              <a:prstGeom prst="rect">
                <a:avLst/>
              </a:prstGeom>
            </p:spPr>
            <p:txBody>
              <a:bodyPr anchor="ctr" rtlCol="false" tIns="50800" lIns="50800" bIns="50800" rIns="50800"/>
              <a:lstStyle/>
              <a:p>
                <a:pPr algn="ctr">
                  <a:lnSpc>
                    <a:spcPts val="3080"/>
                  </a:lnSpc>
                </a:pPr>
              </a:p>
            </p:txBody>
          </p:sp>
        </p:grpSp>
        <p:grpSp>
          <p:nvGrpSpPr>
            <p:cNvPr name="Group 12" id="12"/>
            <p:cNvGrpSpPr/>
            <p:nvPr/>
          </p:nvGrpSpPr>
          <p:grpSpPr>
            <a:xfrm rot="0">
              <a:off x="540608" y="0"/>
              <a:ext cx="10186471" cy="7571531"/>
              <a:chOff x="0" y="0"/>
              <a:chExt cx="1703097" cy="1265900"/>
            </a:xfrm>
          </p:grpSpPr>
          <p:sp>
            <p:nvSpPr>
              <p:cNvPr name="Freeform 13" id="13"/>
              <p:cNvSpPr/>
              <p:nvPr/>
            </p:nvSpPr>
            <p:spPr>
              <a:xfrm flipH="false" flipV="false" rot="0">
                <a:off x="0" y="0"/>
                <a:ext cx="1703097" cy="1265900"/>
              </a:xfrm>
              <a:custGeom>
                <a:avLst/>
                <a:gdLst/>
                <a:ahLst/>
                <a:cxnLst/>
                <a:rect r="r" b="b" t="t" l="l"/>
                <a:pathLst>
                  <a:path h="1265900" w="1703097">
                    <a:moveTo>
                      <a:pt x="41742" y="0"/>
                    </a:moveTo>
                    <a:lnTo>
                      <a:pt x="1661355" y="0"/>
                    </a:lnTo>
                    <a:cubicBezTo>
                      <a:pt x="1684409" y="0"/>
                      <a:pt x="1703097" y="18688"/>
                      <a:pt x="1703097" y="41742"/>
                    </a:cubicBezTo>
                    <a:lnTo>
                      <a:pt x="1703097" y="1224158"/>
                    </a:lnTo>
                    <a:cubicBezTo>
                      <a:pt x="1703097" y="1235229"/>
                      <a:pt x="1698699" y="1245846"/>
                      <a:pt x="1690871" y="1253674"/>
                    </a:cubicBezTo>
                    <a:cubicBezTo>
                      <a:pt x="1683043" y="1261502"/>
                      <a:pt x="1672426" y="1265900"/>
                      <a:pt x="1661355" y="1265900"/>
                    </a:cubicBezTo>
                    <a:lnTo>
                      <a:pt x="41742" y="1265900"/>
                    </a:lnTo>
                    <a:cubicBezTo>
                      <a:pt x="30671" y="1265900"/>
                      <a:pt x="20054" y="1261502"/>
                      <a:pt x="12226" y="1253674"/>
                    </a:cubicBezTo>
                    <a:cubicBezTo>
                      <a:pt x="4398" y="1245846"/>
                      <a:pt x="0" y="1235229"/>
                      <a:pt x="0" y="1224158"/>
                    </a:cubicBezTo>
                    <a:lnTo>
                      <a:pt x="0" y="41742"/>
                    </a:lnTo>
                    <a:cubicBezTo>
                      <a:pt x="0" y="30671"/>
                      <a:pt x="4398" y="20054"/>
                      <a:pt x="12226" y="12226"/>
                    </a:cubicBezTo>
                    <a:cubicBezTo>
                      <a:pt x="20054" y="4398"/>
                      <a:pt x="30671" y="0"/>
                      <a:pt x="41742" y="0"/>
                    </a:cubicBezTo>
                    <a:close/>
                  </a:path>
                </a:pathLst>
              </a:custGeom>
              <a:blipFill>
                <a:blip r:embed="rId4"/>
                <a:stretch>
                  <a:fillRect l="0" t="-955" r="0" b="-955"/>
                </a:stretch>
              </a:blipFill>
            </p:spPr>
          </p:sp>
        </p:grpSp>
        <p:sp>
          <p:nvSpPr>
            <p:cNvPr name="TextBox 14" id="14"/>
            <p:cNvSpPr txBox="true"/>
            <p:nvPr/>
          </p:nvSpPr>
          <p:spPr>
            <a:xfrm rot="0">
              <a:off x="0" y="8530281"/>
              <a:ext cx="11267687" cy="875302"/>
            </a:xfrm>
            <a:prstGeom prst="rect">
              <a:avLst/>
            </a:prstGeom>
          </p:spPr>
          <p:txBody>
            <a:bodyPr anchor="t" rtlCol="false" tIns="0" lIns="0" bIns="0" rIns="0">
              <a:spAutoFit/>
            </a:bodyPr>
            <a:lstStyle/>
            <a:p>
              <a:pPr algn="ctr">
                <a:lnSpc>
                  <a:spcPts val="5516"/>
                </a:lnSpc>
                <a:spcBef>
                  <a:spcPct val="0"/>
                </a:spcBef>
              </a:pPr>
              <a:r>
                <a:rPr lang="en-US" b="true" sz="3940">
                  <a:solidFill>
                    <a:srgbClr val="FFFFFF"/>
                  </a:solidFill>
                  <a:latin typeface="Cerebri Bold"/>
                  <a:ea typeface="Cerebri Bold"/>
                  <a:cs typeface="Cerebri Bold"/>
                  <a:sym typeface="Cerebri Bold"/>
                </a:rPr>
                <a:t>Arsitektur Whisper</a:t>
              </a:r>
            </a:p>
          </p:txBody>
        </p:sp>
      </p:grpSp>
      <p:sp>
        <p:nvSpPr>
          <p:cNvPr name="TextBox 15" id="15"/>
          <p:cNvSpPr txBox="true"/>
          <p:nvPr/>
        </p:nvSpPr>
        <p:spPr>
          <a:xfrm rot="0">
            <a:off x="9772062" y="2887935"/>
            <a:ext cx="7487238" cy="5981065"/>
          </a:xfrm>
          <a:prstGeom prst="rect">
            <a:avLst/>
          </a:prstGeom>
        </p:spPr>
        <p:txBody>
          <a:bodyPr anchor="t" rtlCol="false" tIns="0" lIns="0" bIns="0" rIns="0">
            <a:spAutoFit/>
          </a:bodyPr>
          <a:lstStyle/>
          <a:p>
            <a:pPr algn="just">
              <a:lnSpc>
                <a:spcPts val="2660"/>
              </a:lnSpc>
            </a:pPr>
            <a:r>
              <a:rPr lang="en-US" sz="1900" b="true">
                <a:solidFill>
                  <a:srgbClr val="39352C"/>
                </a:solidFill>
                <a:latin typeface="Cerebri Bold"/>
                <a:ea typeface="Cerebri Bold"/>
                <a:cs typeface="Cerebri Bold"/>
                <a:sym typeface="Cerebri Bold"/>
              </a:rPr>
              <a:t>Whisper</a:t>
            </a:r>
            <a:r>
              <a:rPr lang="en-US" sz="1900">
                <a:solidFill>
                  <a:srgbClr val="39352C"/>
                </a:solidFill>
                <a:latin typeface="Cerebri"/>
                <a:ea typeface="Cerebri"/>
                <a:cs typeface="Cerebri"/>
                <a:sym typeface="Cerebri"/>
              </a:rPr>
              <a:t> adalah </a:t>
            </a:r>
            <a:r>
              <a:rPr lang="en-US" sz="1900" b="true">
                <a:solidFill>
                  <a:srgbClr val="39352C"/>
                </a:solidFill>
                <a:latin typeface="Cerebri Bold"/>
                <a:ea typeface="Cerebri Bold"/>
                <a:cs typeface="Cerebri Bold"/>
                <a:sym typeface="Cerebri Bold"/>
              </a:rPr>
              <a:t>model</a:t>
            </a:r>
            <a:r>
              <a:rPr lang="en-US" sz="1900">
                <a:solidFill>
                  <a:srgbClr val="39352C"/>
                </a:solidFill>
                <a:latin typeface="Cerebri"/>
                <a:ea typeface="Cerebri"/>
                <a:cs typeface="Cerebri"/>
                <a:sym typeface="Cerebri"/>
              </a:rPr>
              <a:t> general-purpose </a:t>
            </a:r>
            <a:r>
              <a:rPr lang="en-US" b="true" sz="1900" i="true">
                <a:solidFill>
                  <a:srgbClr val="39352C"/>
                </a:solidFill>
                <a:latin typeface="Cerebri Bold Italics"/>
                <a:ea typeface="Cerebri Bold Italics"/>
                <a:cs typeface="Cerebri Bold Italics"/>
                <a:sym typeface="Cerebri Bold Italics"/>
              </a:rPr>
              <a:t>speech recognition</a:t>
            </a:r>
            <a:r>
              <a:rPr lang="en-US" sz="1900">
                <a:solidFill>
                  <a:srgbClr val="39352C"/>
                </a:solidFill>
                <a:latin typeface="Cerebri"/>
                <a:ea typeface="Cerebri"/>
                <a:cs typeface="Cerebri"/>
                <a:sym typeface="Cerebri"/>
              </a:rPr>
              <a:t> yang dilatih pada dataset audio berskala besar yang beragam. Berbeda dengan model ASR konvensional yang umumnya dilatih pada dataset terkurasi, Whisper dilatih menggunakan pendekatan weakly supervised pada </a:t>
            </a:r>
            <a:r>
              <a:rPr lang="en-US" sz="1900" b="true">
                <a:solidFill>
                  <a:srgbClr val="39352C"/>
                </a:solidFill>
                <a:latin typeface="Cerebri Bold"/>
                <a:ea typeface="Cerebri Bold"/>
                <a:cs typeface="Cerebri Bold"/>
                <a:sym typeface="Cerebri Bold"/>
              </a:rPr>
              <a:t>680.000 jam data audio</a:t>
            </a:r>
            <a:r>
              <a:rPr lang="en-US" sz="1900">
                <a:solidFill>
                  <a:srgbClr val="39352C"/>
                </a:solidFill>
                <a:latin typeface="Cerebri"/>
                <a:ea typeface="Cerebri"/>
                <a:cs typeface="Cerebri"/>
                <a:sym typeface="Cerebri"/>
              </a:rPr>
              <a:t> multibahasa dan multitugas yang dikumpulkan dari internet. </a:t>
            </a:r>
          </a:p>
          <a:p>
            <a:pPr algn="just">
              <a:lnSpc>
                <a:spcPts val="2660"/>
              </a:lnSpc>
            </a:pPr>
          </a:p>
          <a:p>
            <a:pPr algn="just">
              <a:lnSpc>
                <a:spcPts val="2660"/>
              </a:lnSpc>
            </a:pPr>
            <a:r>
              <a:rPr lang="en-US" sz="1900">
                <a:solidFill>
                  <a:srgbClr val="39352C"/>
                </a:solidFill>
                <a:latin typeface="Cerebri"/>
                <a:ea typeface="Cerebri"/>
                <a:cs typeface="Cerebri"/>
                <a:sym typeface="Cerebri"/>
              </a:rPr>
              <a:t>Skala data yang masif dan keragaman sumber data ini memberikan Whisper kemampuan robustness yang tinggi terhadap berbagai aksen, </a:t>
            </a:r>
            <a:r>
              <a:rPr lang="en-US" sz="1900" i="true">
                <a:solidFill>
                  <a:srgbClr val="39352C"/>
                </a:solidFill>
                <a:latin typeface="Cerebri Italics"/>
                <a:ea typeface="Cerebri Italics"/>
                <a:cs typeface="Cerebri Italics"/>
                <a:sym typeface="Cerebri Italics"/>
              </a:rPr>
              <a:t>background noise</a:t>
            </a:r>
            <a:r>
              <a:rPr lang="en-US" sz="1900">
                <a:solidFill>
                  <a:srgbClr val="39352C"/>
                </a:solidFill>
                <a:latin typeface="Cerebri"/>
                <a:ea typeface="Cerebri"/>
                <a:cs typeface="Cerebri"/>
                <a:sym typeface="Cerebri"/>
              </a:rPr>
              <a:t>, dan bahasa teknis, serta memungkinkannya melakukan transkripsi dalam berbagai bahasa maupun terjemahan ke dalam bahasa Inggris.</a:t>
            </a:r>
          </a:p>
          <a:p>
            <a:pPr algn="just">
              <a:lnSpc>
                <a:spcPts val="2660"/>
              </a:lnSpc>
            </a:pPr>
          </a:p>
          <a:p>
            <a:pPr algn="just">
              <a:lnSpc>
                <a:spcPts val="2660"/>
              </a:lnSpc>
              <a:spcBef>
                <a:spcPct val="0"/>
              </a:spcBef>
            </a:pPr>
            <a:r>
              <a:rPr lang="en-US" sz="1900">
                <a:solidFill>
                  <a:srgbClr val="39352C"/>
                </a:solidFill>
                <a:latin typeface="Cerebri"/>
                <a:ea typeface="Cerebri"/>
                <a:cs typeface="Cerebri"/>
                <a:sym typeface="Cerebri"/>
              </a:rPr>
              <a:t>Secara arsitektural, Whisper menggunakan model </a:t>
            </a:r>
            <a:r>
              <a:rPr lang="en-US" b="true" sz="1900">
                <a:solidFill>
                  <a:srgbClr val="39352C"/>
                </a:solidFill>
                <a:latin typeface="Cerebri Bold"/>
                <a:ea typeface="Cerebri Bold"/>
                <a:cs typeface="Cerebri Bold"/>
                <a:sym typeface="Cerebri Bold"/>
              </a:rPr>
              <a:t>Transformer</a:t>
            </a:r>
            <a:r>
              <a:rPr lang="en-US" sz="1900">
                <a:solidFill>
                  <a:srgbClr val="39352C"/>
                </a:solidFill>
                <a:latin typeface="Cerebri"/>
                <a:ea typeface="Cerebri"/>
                <a:cs typeface="Cerebri"/>
                <a:sym typeface="Cerebri"/>
              </a:rPr>
              <a:t> dalam konfigurasi </a:t>
            </a:r>
            <a:r>
              <a:rPr lang="en-US" b="true" sz="1900" i="true">
                <a:solidFill>
                  <a:srgbClr val="39352C"/>
                </a:solidFill>
                <a:latin typeface="Cerebri Bold Italics"/>
                <a:ea typeface="Cerebri Bold Italics"/>
                <a:cs typeface="Cerebri Bold Italics"/>
                <a:sym typeface="Cerebri Bold Italics"/>
              </a:rPr>
              <a:t>encoder-decoder</a:t>
            </a:r>
            <a:r>
              <a:rPr lang="en-US" sz="1900">
                <a:solidFill>
                  <a:srgbClr val="39352C"/>
                </a:solidFill>
                <a:latin typeface="Cerebri"/>
                <a:ea typeface="Cerebri"/>
                <a:cs typeface="Cerebri"/>
                <a:sym typeface="Cerebri"/>
              </a:rPr>
              <a:t> yang telah terbukti efektif untuk tugas </a:t>
            </a:r>
            <a:r>
              <a:rPr lang="en-US" b="true" sz="1900" i="true">
                <a:solidFill>
                  <a:srgbClr val="39352C"/>
                </a:solidFill>
                <a:latin typeface="Cerebri Bold Italics"/>
                <a:ea typeface="Cerebri Bold Italics"/>
                <a:cs typeface="Cerebri Bold Italics"/>
                <a:sym typeface="Cerebri Bold Italics"/>
              </a:rPr>
              <a:t>Sequence-to-Sequence</a:t>
            </a:r>
            <a:r>
              <a:rPr lang="en-US" sz="1900">
                <a:solidFill>
                  <a:srgbClr val="39352C"/>
                </a:solidFill>
                <a:latin typeface="Cerebri"/>
                <a:ea typeface="Cerebri"/>
                <a:cs typeface="Cerebri"/>
                <a:sym typeface="Cerebri"/>
              </a:rPr>
              <a:t>. Arsitektur ini terdiri dari dua komponen utama: </a:t>
            </a:r>
            <a:r>
              <a:rPr lang="en-US" b="true" sz="1900" i="true">
                <a:solidFill>
                  <a:srgbClr val="39352C"/>
                </a:solidFill>
                <a:latin typeface="Cerebri Bold Italics"/>
                <a:ea typeface="Cerebri Bold Italics"/>
                <a:cs typeface="Cerebri Bold Italics"/>
                <a:sym typeface="Cerebri Bold Italics"/>
              </a:rPr>
              <a:t>encoder</a:t>
            </a:r>
            <a:r>
              <a:rPr lang="en-US" sz="1900">
                <a:solidFill>
                  <a:srgbClr val="39352C"/>
                </a:solidFill>
                <a:latin typeface="Cerebri"/>
                <a:ea typeface="Cerebri"/>
                <a:cs typeface="Cerebri"/>
                <a:sym typeface="Cerebri"/>
              </a:rPr>
              <a:t> yang memproses representasi audio dan </a:t>
            </a:r>
            <a:r>
              <a:rPr lang="en-US" b="true" sz="1900">
                <a:solidFill>
                  <a:srgbClr val="39352C"/>
                </a:solidFill>
                <a:latin typeface="Cerebri Bold"/>
                <a:ea typeface="Cerebri Bold"/>
                <a:cs typeface="Cerebri Bold"/>
                <a:sym typeface="Cerebri Bold"/>
              </a:rPr>
              <a:t>decoder</a:t>
            </a:r>
            <a:r>
              <a:rPr lang="en-US" sz="1900">
                <a:solidFill>
                  <a:srgbClr val="39352C"/>
                </a:solidFill>
                <a:latin typeface="Cerebri"/>
                <a:ea typeface="Cerebri"/>
                <a:cs typeface="Cerebri"/>
                <a:sym typeface="Cerebri"/>
              </a:rPr>
              <a:t> yang menghasilkan transkrip teks.</a:t>
            </a:r>
          </a:p>
        </p:txBody>
      </p:sp>
      <p:grpSp>
        <p:nvGrpSpPr>
          <p:cNvPr name="Group 16" id="16"/>
          <p:cNvGrpSpPr/>
          <p:nvPr/>
        </p:nvGrpSpPr>
        <p:grpSpPr>
          <a:xfrm rot="0">
            <a:off x="1028700" y="-17690"/>
            <a:ext cx="16230600" cy="1205443"/>
            <a:chOff x="0" y="0"/>
            <a:chExt cx="21640800" cy="1607257"/>
          </a:xfrm>
        </p:grpSpPr>
        <p:sp>
          <p:nvSpPr>
            <p:cNvPr name="AutoShape 17" id="17"/>
            <p:cNvSpPr/>
            <p:nvPr/>
          </p:nvSpPr>
          <p:spPr>
            <a:xfrm>
              <a:off x="4131137" y="864701"/>
              <a:ext cx="13915256" cy="0"/>
            </a:xfrm>
            <a:prstGeom prst="line">
              <a:avLst/>
            </a:prstGeom>
            <a:ln cap="flat" w="25400">
              <a:solidFill>
                <a:srgbClr val="39352C"/>
              </a:solidFill>
              <a:prstDash val="solid"/>
              <a:headEnd type="none" len="sm" w="sm"/>
              <a:tailEnd type="none" len="sm" w="sm"/>
            </a:ln>
          </p:spPr>
        </p:sp>
        <p:sp>
          <p:nvSpPr>
            <p:cNvPr name="TextBox 18" id="18"/>
            <p:cNvSpPr txBox="true"/>
            <p:nvPr/>
          </p:nvSpPr>
          <p:spPr>
            <a:xfrm rot="0">
              <a:off x="18046393" y="625517"/>
              <a:ext cx="3594407" cy="440267"/>
            </a:xfrm>
            <a:prstGeom prst="rect">
              <a:avLst/>
            </a:prstGeom>
          </p:spPr>
          <p:txBody>
            <a:bodyPr anchor="t" rtlCol="false" tIns="0" lIns="0" bIns="0" rIns="0">
              <a:spAutoFit/>
            </a:bodyPr>
            <a:lstStyle/>
            <a:p>
              <a:pPr algn="r">
                <a:lnSpc>
                  <a:spcPts val="2800"/>
                </a:lnSpc>
                <a:spcBef>
                  <a:spcPct val="0"/>
                </a:spcBef>
              </a:pPr>
              <a:r>
                <a:rPr lang="en-US" b="true" sz="2000" spc="60">
                  <a:solidFill>
                    <a:srgbClr val="39352C"/>
                  </a:solidFill>
                  <a:latin typeface="Cerebri Bold"/>
                  <a:ea typeface="Cerebri Bold"/>
                  <a:cs typeface="Cerebri Bold"/>
                  <a:sym typeface="Cerebri Bold"/>
                </a:rPr>
                <a:t>15 DESEMBER 2025</a:t>
              </a:r>
            </a:p>
          </p:txBody>
        </p:sp>
        <p:sp>
          <p:nvSpPr>
            <p:cNvPr name="TextBox 19" id="19"/>
            <p:cNvSpPr txBox="true"/>
            <p:nvPr/>
          </p:nvSpPr>
          <p:spPr>
            <a:xfrm rot="0">
              <a:off x="0" y="625517"/>
              <a:ext cx="4131137" cy="440266"/>
            </a:xfrm>
            <a:prstGeom prst="rect">
              <a:avLst/>
            </a:prstGeom>
          </p:spPr>
          <p:txBody>
            <a:bodyPr anchor="t" rtlCol="false" tIns="0" lIns="0" bIns="0" rIns="0">
              <a:spAutoFit/>
            </a:bodyPr>
            <a:lstStyle/>
            <a:p>
              <a:pPr algn="l">
                <a:lnSpc>
                  <a:spcPts val="2800"/>
                </a:lnSpc>
                <a:spcBef>
                  <a:spcPct val="0"/>
                </a:spcBef>
              </a:pPr>
              <a:r>
                <a:rPr lang="en-US" b="true" sz="2000" spc="60">
                  <a:solidFill>
                    <a:srgbClr val="39352C"/>
                  </a:solidFill>
                  <a:latin typeface="Cerebri Bold"/>
                  <a:ea typeface="Cerebri Bold"/>
                  <a:cs typeface="Cerebri Bold"/>
                  <a:sym typeface="Cerebri Bold"/>
                </a:rPr>
                <a:t>TEKNIK INFORMATIKA</a:t>
              </a:r>
            </a:p>
          </p:txBody>
        </p:sp>
        <p:sp>
          <p:nvSpPr>
            <p:cNvPr name="Freeform 20" id="20"/>
            <p:cNvSpPr/>
            <p:nvPr/>
          </p:nvSpPr>
          <p:spPr>
            <a:xfrm flipH="false" flipV="false" rot="0">
              <a:off x="8783553" y="0"/>
              <a:ext cx="4073693" cy="1607257"/>
            </a:xfrm>
            <a:custGeom>
              <a:avLst/>
              <a:gdLst/>
              <a:ahLst/>
              <a:cxnLst/>
              <a:rect r="r" b="b" t="t" l="l"/>
              <a:pathLst>
                <a:path h="1607257" w="4073693">
                  <a:moveTo>
                    <a:pt x="0" y="0"/>
                  </a:moveTo>
                  <a:lnTo>
                    <a:pt x="4073694" y="0"/>
                  </a:lnTo>
                  <a:lnTo>
                    <a:pt x="4073694" y="1607257"/>
                  </a:lnTo>
                  <a:lnTo>
                    <a:pt x="0" y="16072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061758"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7"/>
              <a:stretch>
                <a:fillRect l="0" t="0" r="0" b="0"/>
              </a:stretch>
            </a:blipFill>
          </p:spPr>
        </p:sp>
        <p:sp>
          <p:nvSpPr>
            <p:cNvPr name="Freeform 22" id="22"/>
            <p:cNvSpPr/>
            <p:nvPr/>
          </p:nvSpPr>
          <p:spPr>
            <a:xfrm flipH="false" flipV="false" rot="0">
              <a:off x="10820400"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8"/>
              <a:stretch>
                <a:fillRect l="0" t="0" r="0" b="0"/>
              </a:stretch>
            </a:blipFill>
          </p:spPr>
        </p:sp>
      </p:grpSp>
    </p:spTree>
  </p:cSld>
  <p:clrMapOvr>
    <a:masterClrMapping/>
  </p:clrMapOvr>
  <p:transition spd="slow">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4274147" y="-4132490"/>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526264" y="8858743"/>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grpSp>
        <p:nvGrpSpPr>
          <p:cNvPr name="Group 4" id="4"/>
          <p:cNvGrpSpPr/>
          <p:nvPr/>
        </p:nvGrpSpPr>
        <p:grpSpPr>
          <a:xfrm rot="0">
            <a:off x="550240" y="2706814"/>
            <a:ext cx="8450765" cy="6811111"/>
            <a:chOff x="0" y="0"/>
            <a:chExt cx="11267687" cy="9081482"/>
          </a:xfrm>
        </p:grpSpPr>
        <p:grpSp>
          <p:nvGrpSpPr>
            <p:cNvPr name="Group 5" id="5"/>
            <p:cNvGrpSpPr/>
            <p:nvPr/>
          </p:nvGrpSpPr>
          <p:grpSpPr>
            <a:xfrm rot="0">
              <a:off x="0" y="7759217"/>
              <a:ext cx="11267687" cy="1322265"/>
              <a:chOff x="0" y="0"/>
              <a:chExt cx="1242769" cy="145839"/>
            </a:xfrm>
          </p:grpSpPr>
          <p:sp>
            <p:nvSpPr>
              <p:cNvPr name="Freeform 6" id="6"/>
              <p:cNvSpPr/>
              <p:nvPr/>
            </p:nvSpPr>
            <p:spPr>
              <a:xfrm flipH="false" flipV="false" rot="0">
                <a:off x="0" y="0"/>
                <a:ext cx="1242769" cy="145839"/>
              </a:xfrm>
              <a:custGeom>
                <a:avLst/>
                <a:gdLst/>
                <a:ahLst/>
                <a:cxnLst/>
                <a:rect r="r" b="b" t="t" l="l"/>
                <a:pathLst>
                  <a:path h="145839" w="1242769">
                    <a:moveTo>
                      <a:pt x="34455" y="0"/>
                    </a:moveTo>
                    <a:lnTo>
                      <a:pt x="1208314" y="0"/>
                    </a:lnTo>
                    <a:cubicBezTo>
                      <a:pt x="1227343" y="0"/>
                      <a:pt x="1242769" y="15426"/>
                      <a:pt x="1242769" y="34455"/>
                    </a:cubicBezTo>
                    <a:lnTo>
                      <a:pt x="1242769" y="111384"/>
                    </a:lnTo>
                    <a:cubicBezTo>
                      <a:pt x="1242769" y="130413"/>
                      <a:pt x="1227343" y="145839"/>
                      <a:pt x="1208314" y="145839"/>
                    </a:cubicBezTo>
                    <a:lnTo>
                      <a:pt x="34455" y="145839"/>
                    </a:lnTo>
                    <a:cubicBezTo>
                      <a:pt x="15426" y="145839"/>
                      <a:pt x="0" y="130413"/>
                      <a:pt x="0" y="111384"/>
                    </a:cubicBezTo>
                    <a:lnTo>
                      <a:pt x="0" y="34455"/>
                    </a:lnTo>
                    <a:cubicBezTo>
                      <a:pt x="0" y="15426"/>
                      <a:pt x="15426" y="0"/>
                      <a:pt x="34455" y="0"/>
                    </a:cubicBez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7" id="7"/>
              <p:cNvSpPr txBox="true"/>
              <p:nvPr/>
            </p:nvSpPr>
            <p:spPr>
              <a:xfrm>
                <a:off x="0" y="-38100"/>
                <a:ext cx="1242769" cy="183939"/>
              </a:xfrm>
              <a:prstGeom prst="rect">
                <a:avLst/>
              </a:prstGeom>
            </p:spPr>
            <p:txBody>
              <a:bodyPr anchor="ctr" rtlCol="false" tIns="50800" lIns="50800" bIns="50800" rIns="50800"/>
              <a:lstStyle/>
              <a:p>
                <a:pPr algn="ctr">
                  <a:lnSpc>
                    <a:spcPts val="3080"/>
                  </a:lnSpc>
                </a:pPr>
              </a:p>
            </p:txBody>
          </p:sp>
        </p:grpSp>
        <p:grpSp>
          <p:nvGrpSpPr>
            <p:cNvPr name="Group 8" id="8"/>
            <p:cNvGrpSpPr/>
            <p:nvPr/>
          </p:nvGrpSpPr>
          <p:grpSpPr>
            <a:xfrm rot="0">
              <a:off x="0" y="2366095"/>
              <a:ext cx="11267687" cy="5122011"/>
              <a:chOff x="0" y="0"/>
              <a:chExt cx="1242769" cy="564932"/>
            </a:xfrm>
          </p:grpSpPr>
          <p:sp>
            <p:nvSpPr>
              <p:cNvPr name="Freeform 9" id="9"/>
              <p:cNvSpPr/>
              <p:nvPr/>
            </p:nvSpPr>
            <p:spPr>
              <a:xfrm flipH="false" flipV="false" rot="0">
                <a:off x="0" y="0"/>
                <a:ext cx="1242769" cy="564932"/>
              </a:xfrm>
              <a:custGeom>
                <a:avLst/>
                <a:gdLst/>
                <a:ahLst/>
                <a:cxnLst/>
                <a:rect r="r" b="b" t="t" l="l"/>
                <a:pathLst>
                  <a:path h="564932" w="1242769">
                    <a:moveTo>
                      <a:pt x="34455" y="0"/>
                    </a:moveTo>
                    <a:lnTo>
                      <a:pt x="1208314" y="0"/>
                    </a:lnTo>
                    <a:cubicBezTo>
                      <a:pt x="1227343" y="0"/>
                      <a:pt x="1242769" y="15426"/>
                      <a:pt x="1242769" y="34455"/>
                    </a:cubicBezTo>
                    <a:lnTo>
                      <a:pt x="1242769" y="530477"/>
                    </a:lnTo>
                    <a:cubicBezTo>
                      <a:pt x="1242769" y="549506"/>
                      <a:pt x="1227343" y="564932"/>
                      <a:pt x="1208314" y="564932"/>
                    </a:cubicBezTo>
                    <a:lnTo>
                      <a:pt x="34455" y="564932"/>
                    </a:lnTo>
                    <a:cubicBezTo>
                      <a:pt x="15426" y="564932"/>
                      <a:pt x="0" y="549506"/>
                      <a:pt x="0" y="530477"/>
                    </a:cubicBezTo>
                    <a:lnTo>
                      <a:pt x="0" y="34455"/>
                    </a:lnTo>
                    <a:cubicBezTo>
                      <a:pt x="0" y="15426"/>
                      <a:pt x="15426" y="0"/>
                      <a:pt x="34455"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10" id="10"/>
              <p:cNvSpPr txBox="true"/>
              <p:nvPr/>
            </p:nvSpPr>
            <p:spPr>
              <a:xfrm>
                <a:off x="0" y="-38100"/>
                <a:ext cx="1242769" cy="603032"/>
              </a:xfrm>
              <a:prstGeom prst="rect">
                <a:avLst/>
              </a:prstGeom>
            </p:spPr>
            <p:txBody>
              <a:bodyPr anchor="ctr" rtlCol="false" tIns="50800" lIns="50800" bIns="50800" rIns="50800"/>
              <a:lstStyle/>
              <a:p>
                <a:pPr algn="ctr">
                  <a:lnSpc>
                    <a:spcPts val="3080"/>
                  </a:lnSpc>
                </a:pPr>
              </a:p>
            </p:txBody>
          </p:sp>
        </p:grpSp>
        <p:grpSp>
          <p:nvGrpSpPr>
            <p:cNvPr name="Group 11" id="11"/>
            <p:cNvGrpSpPr/>
            <p:nvPr/>
          </p:nvGrpSpPr>
          <p:grpSpPr>
            <a:xfrm rot="0">
              <a:off x="540608" y="0"/>
              <a:ext cx="10226624" cy="6985892"/>
              <a:chOff x="0" y="0"/>
              <a:chExt cx="1853147" cy="1265900"/>
            </a:xfrm>
          </p:grpSpPr>
          <p:sp>
            <p:nvSpPr>
              <p:cNvPr name="Freeform 12" id="12"/>
              <p:cNvSpPr/>
              <p:nvPr/>
            </p:nvSpPr>
            <p:spPr>
              <a:xfrm flipH="false" flipV="false" rot="0">
                <a:off x="0" y="0"/>
                <a:ext cx="1853147" cy="1265900"/>
              </a:xfrm>
              <a:custGeom>
                <a:avLst/>
                <a:gdLst/>
                <a:ahLst/>
                <a:cxnLst/>
                <a:rect r="r" b="b" t="t" l="l"/>
                <a:pathLst>
                  <a:path h="1265900" w="1853147">
                    <a:moveTo>
                      <a:pt x="41578" y="0"/>
                    </a:moveTo>
                    <a:lnTo>
                      <a:pt x="1811569" y="0"/>
                    </a:lnTo>
                    <a:cubicBezTo>
                      <a:pt x="1834532" y="0"/>
                      <a:pt x="1853147" y="18615"/>
                      <a:pt x="1853147" y="41578"/>
                    </a:cubicBezTo>
                    <a:lnTo>
                      <a:pt x="1853147" y="1224322"/>
                    </a:lnTo>
                    <a:cubicBezTo>
                      <a:pt x="1853147" y="1247285"/>
                      <a:pt x="1834532" y="1265900"/>
                      <a:pt x="1811569" y="1265900"/>
                    </a:cubicBezTo>
                    <a:lnTo>
                      <a:pt x="41578" y="1265900"/>
                    </a:lnTo>
                    <a:cubicBezTo>
                      <a:pt x="18615" y="1265900"/>
                      <a:pt x="0" y="1247285"/>
                      <a:pt x="0" y="1224322"/>
                    </a:cubicBezTo>
                    <a:lnTo>
                      <a:pt x="0" y="41578"/>
                    </a:lnTo>
                    <a:cubicBezTo>
                      <a:pt x="0" y="18615"/>
                      <a:pt x="18615" y="0"/>
                      <a:pt x="41578" y="0"/>
                    </a:cubicBezTo>
                    <a:close/>
                  </a:path>
                </a:pathLst>
              </a:custGeom>
              <a:blipFill>
                <a:blip r:embed="rId4"/>
                <a:stretch>
                  <a:fillRect l="-1265" t="0" r="-1265" b="0"/>
                </a:stretch>
              </a:blipFill>
            </p:spPr>
          </p:sp>
        </p:grpSp>
        <p:sp>
          <p:nvSpPr>
            <p:cNvPr name="TextBox 13" id="13"/>
            <p:cNvSpPr txBox="true"/>
            <p:nvPr/>
          </p:nvSpPr>
          <p:spPr>
            <a:xfrm rot="0">
              <a:off x="0" y="7944643"/>
              <a:ext cx="11267687" cy="875302"/>
            </a:xfrm>
            <a:prstGeom prst="rect">
              <a:avLst/>
            </a:prstGeom>
          </p:spPr>
          <p:txBody>
            <a:bodyPr anchor="t" rtlCol="false" tIns="0" lIns="0" bIns="0" rIns="0">
              <a:spAutoFit/>
            </a:bodyPr>
            <a:lstStyle/>
            <a:p>
              <a:pPr algn="ctr">
                <a:lnSpc>
                  <a:spcPts val="5516"/>
                </a:lnSpc>
                <a:spcBef>
                  <a:spcPct val="0"/>
                </a:spcBef>
              </a:pPr>
              <a:r>
                <a:rPr lang="en-US" b="true" sz="3940">
                  <a:solidFill>
                    <a:srgbClr val="FFFFFF"/>
                  </a:solidFill>
                  <a:latin typeface="Cerebri Bold"/>
                  <a:ea typeface="Cerebri Bold"/>
                  <a:cs typeface="Cerebri Bold"/>
                  <a:sym typeface="Cerebri Bold"/>
                </a:rPr>
                <a:t>Freeze Encoder</a:t>
              </a:r>
            </a:p>
          </p:txBody>
        </p:sp>
      </p:grpSp>
      <p:sp>
        <p:nvSpPr>
          <p:cNvPr name="TextBox 14" id="14"/>
          <p:cNvSpPr txBox="true"/>
          <p:nvPr/>
        </p:nvSpPr>
        <p:spPr>
          <a:xfrm rot="0">
            <a:off x="4932770" y="1209675"/>
            <a:ext cx="8422459" cy="953135"/>
          </a:xfrm>
          <a:prstGeom prst="rect">
            <a:avLst/>
          </a:prstGeom>
        </p:spPr>
        <p:txBody>
          <a:bodyPr anchor="t" rtlCol="false" tIns="0" lIns="0" bIns="0" rIns="0">
            <a:spAutoFit/>
          </a:bodyPr>
          <a:lstStyle/>
          <a:p>
            <a:pPr algn="ctr">
              <a:lnSpc>
                <a:spcPts val="7840"/>
              </a:lnSpc>
              <a:spcBef>
                <a:spcPct val="0"/>
              </a:spcBef>
            </a:pPr>
            <a:r>
              <a:rPr lang="en-US" b="true" sz="5600">
                <a:solidFill>
                  <a:srgbClr val="0054C5"/>
                </a:solidFill>
                <a:latin typeface="Cerebri Bold"/>
                <a:ea typeface="Cerebri Bold"/>
                <a:cs typeface="Cerebri Bold"/>
                <a:sym typeface="Cerebri Bold"/>
              </a:rPr>
              <a:t>Dasar Teori</a:t>
            </a:r>
          </a:p>
        </p:txBody>
      </p:sp>
      <p:sp>
        <p:nvSpPr>
          <p:cNvPr name="TextBox 15" id="15"/>
          <p:cNvSpPr txBox="true"/>
          <p:nvPr/>
        </p:nvSpPr>
        <p:spPr>
          <a:xfrm rot="0">
            <a:off x="9772062" y="2887935"/>
            <a:ext cx="7487238" cy="5314315"/>
          </a:xfrm>
          <a:prstGeom prst="rect">
            <a:avLst/>
          </a:prstGeom>
        </p:spPr>
        <p:txBody>
          <a:bodyPr anchor="t" rtlCol="false" tIns="0" lIns="0" bIns="0" rIns="0">
            <a:spAutoFit/>
          </a:bodyPr>
          <a:lstStyle/>
          <a:p>
            <a:pPr algn="just">
              <a:lnSpc>
                <a:spcPts val="2660"/>
              </a:lnSpc>
            </a:pPr>
            <a:r>
              <a:rPr lang="en-US" b="true" sz="1900" i="true">
                <a:solidFill>
                  <a:srgbClr val="39352C"/>
                </a:solidFill>
                <a:latin typeface="Cerebri Bold Italics"/>
                <a:ea typeface="Cerebri Bold Italics"/>
                <a:cs typeface="Cerebri Bold Italics"/>
                <a:sym typeface="Cerebri Bold Italics"/>
              </a:rPr>
              <a:t>Freeze Encoder Fine-Tuning</a:t>
            </a:r>
            <a:r>
              <a:rPr lang="en-US" sz="1900">
                <a:solidFill>
                  <a:srgbClr val="39352C"/>
                </a:solidFill>
                <a:latin typeface="Cerebri"/>
                <a:ea typeface="Cerebri"/>
                <a:cs typeface="Cerebri"/>
                <a:sym typeface="Cerebri"/>
              </a:rPr>
              <a:t> adalah strategi </a:t>
            </a:r>
            <a:r>
              <a:rPr lang="en-US" b="true" sz="1900" i="true">
                <a:solidFill>
                  <a:srgbClr val="39352C"/>
                </a:solidFill>
                <a:latin typeface="Cerebri Bold Italics"/>
                <a:ea typeface="Cerebri Bold Italics"/>
                <a:cs typeface="Cerebri Bold Italics"/>
                <a:sym typeface="Cerebri Bold Italics"/>
              </a:rPr>
              <a:t>fine-tuning</a:t>
            </a:r>
            <a:r>
              <a:rPr lang="en-US" sz="1900">
                <a:solidFill>
                  <a:srgbClr val="39352C"/>
                </a:solidFill>
                <a:latin typeface="Cerebri"/>
                <a:ea typeface="Cerebri"/>
                <a:cs typeface="Cerebri"/>
                <a:sym typeface="Cerebri"/>
              </a:rPr>
              <a:t> yang </a:t>
            </a:r>
            <a:r>
              <a:rPr lang="en-US" sz="1900" b="true">
                <a:solidFill>
                  <a:srgbClr val="39352C"/>
                </a:solidFill>
                <a:latin typeface="Cerebri Bold"/>
                <a:ea typeface="Cerebri Bold"/>
                <a:cs typeface="Cerebri Bold"/>
                <a:sym typeface="Cerebri Bold"/>
              </a:rPr>
              <a:t>membekukan</a:t>
            </a:r>
            <a:r>
              <a:rPr lang="en-US" sz="1900">
                <a:solidFill>
                  <a:srgbClr val="39352C"/>
                </a:solidFill>
                <a:latin typeface="Cerebri"/>
                <a:ea typeface="Cerebri"/>
                <a:cs typeface="Cerebri"/>
                <a:sym typeface="Cerebri"/>
              </a:rPr>
              <a:t> (freeze) </a:t>
            </a:r>
            <a:r>
              <a:rPr lang="en-US" sz="1900" b="true">
                <a:solidFill>
                  <a:srgbClr val="39352C"/>
                </a:solidFill>
                <a:latin typeface="Cerebri Bold"/>
                <a:ea typeface="Cerebri Bold"/>
                <a:cs typeface="Cerebri Bold"/>
                <a:sym typeface="Cerebri Bold"/>
              </a:rPr>
              <a:t>seluruh parameter encoder</a:t>
            </a:r>
            <a:r>
              <a:rPr lang="en-US" sz="1900">
                <a:solidFill>
                  <a:srgbClr val="39352C"/>
                </a:solidFill>
                <a:latin typeface="Cerebri"/>
                <a:ea typeface="Cerebri"/>
                <a:cs typeface="Cerebri"/>
                <a:sym typeface="Cerebri"/>
              </a:rPr>
              <a:t> dan </a:t>
            </a:r>
            <a:r>
              <a:rPr lang="en-US" sz="1900" b="true">
                <a:solidFill>
                  <a:srgbClr val="39352C"/>
                </a:solidFill>
                <a:latin typeface="Cerebri Bold"/>
                <a:ea typeface="Cerebri Bold"/>
                <a:cs typeface="Cerebri Bold"/>
                <a:sym typeface="Cerebri Bold"/>
              </a:rPr>
              <a:t>hanya melatih parameter decoder</a:t>
            </a:r>
            <a:r>
              <a:rPr lang="en-US" sz="1900">
                <a:solidFill>
                  <a:srgbClr val="39352C"/>
                </a:solidFill>
                <a:latin typeface="Cerebri"/>
                <a:ea typeface="Cerebri"/>
                <a:cs typeface="Cerebri"/>
                <a:sym typeface="Cerebri"/>
              </a:rPr>
              <a:t> dalam arsitektur encoder-decoder seperti </a:t>
            </a:r>
            <a:r>
              <a:rPr lang="en-US" sz="1900" b="true">
                <a:solidFill>
                  <a:srgbClr val="39352C"/>
                </a:solidFill>
                <a:latin typeface="Cerebri Bold"/>
                <a:ea typeface="Cerebri Bold"/>
                <a:cs typeface="Cerebri Bold"/>
                <a:sym typeface="Cerebri Bold"/>
              </a:rPr>
              <a:t>Whisper</a:t>
            </a:r>
            <a:r>
              <a:rPr lang="en-US" sz="1900">
                <a:solidFill>
                  <a:srgbClr val="39352C"/>
                </a:solidFill>
                <a:latin typeface="Cerebri"/>
                <a:ea typeface="Cerebri"/>
                <a:cs typeface="Cerebri"/>
                <a:sym typeface="Cerebri"/>
              </a:rPr>
              <a:t>. </a:t>
            </a:r>
          </a:p>
          <a:p>
            <a:pPr algn="just">
              <a:lnSpc>
                <a:spcPts val="2660"/>
              </a:lnSpc>
            </a:pPr>
          </a:p>
          <a:p>
            <a:pPr algn="just">
              <a:lnSpc>
                <a:spcPts val="2660"/>
              </a:lnSpc>
            </a:pPr>
            <a:r>
              <a:rPr lang="en-US" sz="1900">
                <a:solidFill>
                  <a:srgbClr val="39352C"/>
                </a:solidFill>
                <a:latin typeface="Cerebri"/>
                <a:ea typeface="Cerebri"/>
                <a:cs typeface="Cerebri"/>
                <a:sym typeface="Cerebri"/>
              </a:rPr>
              <a:t>Pendekatan ini didasarkan pada hipotesis bahwa representasi akustik yang telah dipelajari encoder dari data pre-training multibahasa bersifat universal dan dapat digunakan langsung untuk bahasa target, sementara decoder perlu diadaptasi untuk mempelajari pola linguistik spesifik bahasa target.</a:t>
            </a:r>
          </a:p>
          <a:p>
            <a:pPr algn="just">
              <a:lnSpc>
                <a:spcPts val="2660"/>
              </a:lnSpc>
            </a:pPr>
          </a:p>
          <a:p>
            <a:pPr algn="just">
              <a:lnSpc>
                <a:spcPts val="2660"/>
              </a:lnSpc>
            </a:pPr>
            <a:r>
              <a:rPr lang="en-US" sz="1900">
                <a:solidFill>
                  <a:srgbClr val="39352C"/>
                </a:solidFill>
                <a:latin typeface="Cerebri"/>
                <a:ea typeface="Cerebri"/>
                <a:cs typeface="Cerebri"/>
                <a:sym typeface="Cerebri"/>
              </a:rPr>
              <a:t>Dalam konteks Whisper Base, strategi ini membekukan 6 lapisan encoder Transformer (∼37M parameter) dan hanya melatih 6 lapisan decoder Transformer (∼37M parameter), sehingga mengurangi jumlah parameter yang di-update menjadi sekitar 50% dari total parameter model.</a:t>
            </a:r>
          </a:p>
        </p:txBody>
      </p:sp>
      <p:grpSp>
        <p:nvGrpSpPr>
          <p:cNvPr name="Group 16" id="16"/>
          <p:cNvGrpSpPr/>
          <p:nvPr/>
        </p:nvGrpSpPr>
        <p:grpSpPr>
          <a:xfrm rot="0">
            <a:off x="1028700" y="-17690"/>
            <a:ext cx="16230600" cy="1205443"/>
            <a:chOff x="0" y="0"/>
            <a:chExt cx="21640800" cy="1607257"/>
          </a:xfrm>
        </p:grpSpPr>
        <p:sp>
          <p:nvSpPr>
            <p:cNvPr name="AutoShape 17" id="17"/>
            <p:cNvSpPr/>
            <p:nvPr/>
          </p:nvSpPr>
          <p:spPr>
            <a:xfrm>
              <a:off x="4131137" y="864701"/>
              <a:ext cx="13915256" cy="0"/>
            </a:xfrm>
            <a:prstGeom prst="line">
              <a:avLst/>
            </a:prstGeom>
            <a:ln cap="flat" w="25400">
              <a:solidFill>
                <a:srgbClr val="39352C"/>
              </a:solidFill>
              <a:prstDash val="solid"/>
              <a:headEnd type="none" len="sm" w="sm"/>
              <a:tailEnd type="none" len="sm" w="sm"/>
            </a:ln>
          </p:spPr>
        </p:sp>
        <p:sp>
          <p:nvSpPr>
            <p:cNvPr name="TextBox 18" id="18"/>
            <p:cNvSpPr txBox="true"/>
            <p:nvPr/>
          </p:nvSpPr>
          <p:spPr>
            <a:xfrm rot="0">
              <a:off x="18046393" y="625517"/>
              <a:ext cx="3594407" cy="440267"/>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19" id="19"/>
            <p:cNvSpPr txBox="true"/>
            <p:nvPr/>
          </p:nvSpPr>
          <p:spPr>
            <a:xfrm rot="0">
              <a:off x="0" y="625517"/>
              <a:ext cx="4131137" cy="440266"/>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
          <p:nvSpPr>
            <p:cNvPr name="Freeform 20" id="20"/>
            <p:cNvSpPr/>
            <p:nvPr/>
          </p:nvSpPr>
          <p:spPr>
            <a:xfrm flipH="false" flipV="false" rot="0">
              <a:off x="8783553" y="0"/>
              <a:ext cx="4073693" cy="1607257"/>
            </a:xfrm>
            <a:custGeom>
              <a:avLst/>
              <a:gdLst/>
              <a:ahLst/>
              <a:cxnLst/>
              <a:rect r="r" b="b" t="t" l="l"/>
              <a:pathLst>
                <a:path h="1607257" w="4073693">
                  <a:moveTo>
                    <a:pt x="0" y="0"/>
                  </a:moveTo>
                  <a:lnTo>
                    <a:pt x="4073694" y="0"/>
                  </a:lnTo>
                  <a:lnTo>
                    <a:pt x="4073694" y="1607257"/>
                  </a:lnTo>
                  <a:lnTo>
                    <a:pt x="0" y="16072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061758"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7"/>
              <a:stretch>
                <a:fillRect l="0" t="0" r="0" b="0"/>
              </a:stretch>
            </a:blipFill>
          </p:spPr>
        </p:sp>
        <p:sp>
          <p:nvSpPr>
            <p:cNvPr name="Freeform 22" id="22"/>
            <p:cNvSpPr/>
            <p:nvPr/>
          </p:nvSpPr>
          <p:spPr>
            <a:xfrm flipH="false" flipV="false" rot="0">
              <a:off x="10820400"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8"/>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4274147" y="-4132490"/>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526264" y="8858743"/>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sp>
        <p:nvSpPr>
          <p:cNvPr name="AutoShape 4" id="4"/>
          <p:cNvSpPr/>
          <p:nvPr/>
        </p:nvSpPr>
        <p:spPr>
          <a:xfrm>
            <a:off x="4127053" y="630835"/>
            <a:ext cx="10436442" cy="0"/>
          </a:xfrm>
          <a:prstGeom prst="line">
            <a:avLst/>
          </a:prstGeom>
          <a:ln cap="flat" w="19050">
            <a:solidFill>
              <a:srgbClr val="39352C"/>
            </a:solidFill>
            <a:prstDash val="solid"/>
            <a:headEnd type="none" len="sm" w="sm"/>
            <a:tailEnd type="none" len="sm" w="sm"/>
          </a:ln>
        </p:spPr>
      </p:sp>
      <p:sp>
        <p:nvSpPr>
          <p:cNvPr name="TextBox 5" id="5"/>
          <p:cNvSpPr txBox="true"/>
          <p:nvPr/>
        </p:nvSpPr>
        <p:spPr>
          <a:xfrm rot="0">
            <a:off x="14563495" y="441923"/>
            <a:ext cx="2695805" cy="339725"/>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6" id="6"/>
          <p:cNvSpPr txBox="true"/>
          <p:nvPr/>
        </p:nvSpPr>
        <p:spPr>
          <a:xfrm rot="0">
            <a:off x="1028700" y="441923"/>
            <a:ext cx="3098353" cy="339725"/>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grpSp>
        <p:nvGrpSpPr>
          <p:cNvPr name="Group 7" id="7"/>
          <p:cNvGrpSpPr/>
          <p:nvPr/>
        </p:nvGrpSpPr>
        <p:grpSpPr>
          <a:xfrm rot="0">
            <a:off x="550240" y="2859214"/>
            <a:ext cx="8450765" cy="6658711"/>
            <a:chOff x="0" y="0"/>
            <a:chExt cx="11267687" cy="8878282"/>
          </a:xfrm>
        </p:grpSpPr>
        <p:grpSp>
          <p:nvGrpSpPr>
            <p:cNvPr name="Group 8" id="8"/>
            <p:cNvGrpSpPr/>
            <p:nvPr/>
          </p:nvGrpSpPr>
          <p:grpSpPr>
            <a:xfrm rot="0">
              <a:off x="0" y="7556017"/>
              <a:ext cx="11267687" cy="1322265"/>
              <a:chOff x="0" y="0"/>
              <a:chExt cx="1242769" cy="145839"/>
            </a:xfrm>
          </p:grpSpPr>
          <p:sp>
            <p:nvSpPr>
              <p:cNvPr name="Freeform 9" id="9"/>
              <p:cNvSpPr/>
              <p:nvPr/>
            </p:nvSpPr>
            <p:spPr>
              <a:xfrm flipH="false" flipV="false" rot="0">
                <a:off x="0" y="0"/>
                <a:ext cx="1242769" cy="145839"/>
              </a:xfrm>
              <a:custGeom>
                <a:avLst/>
                <a:gdLst/>
                <a:ahLst/>
                <a:cxnLst/>
                <a:rect r="r" b="b" t="t" l="l"/>
                <a:pathLst>
                  <a:path h="145839" w="1242769">
                    <a:moveTo>
                      <a:pt x="34455" y="0"/>
                    </a:moveTo>
                    <a:lnTo>
                      <a:pt x="1208314" y="0"/>
                    </a:lnTo>
                    <a:cubicBezTo>
                      <a:pt x="1227343" y="0"/>
                      <a:pt x="1242769" y="15426"/>
                      <a:pt x="1242769" y="34455"/>
                    </a:cubicBezTo>
                    <a:lnTo>
                      <a:pt x="1242769" y="111384"/>
                    </a:lnTo>
                    <a:cubicBezTo>
                      <a:pt x="1242769" y="130413"/>
                      <a:pt x="1227343" y="145839"/>
                      <a:pt x="1208314" y="145839"/>
                    </a:cubicBezTo>
                    <a:lnTo>
                      <a:pt x="34455" y="145839"/>
                    </a:lnTo>
                    <a:cubicBezTo>
                      <a:pt x="15426" y="145839"/>
                      <a:pt x="0" y="130413"/>
                      <a:pt x="0" y="111384"/>
                    </a:cubicBezTo>
                    <a:lnTo>
                      <a:pt x="0" y="34455"/>
                    </a:lnTo>
                    <a:cubicBezTo>
                      <a:pt x="0" y="15426"/>
                      <a:pt x="15426" y="0"/>
                      <a:pt x="34455" y="0"/>
                    </a:cubicBez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0" id="10"/>
              <p:cNvSpPr txBox="true"/>
              <p:nvPr/>
            </p:nvSpPr>
            <p:spPr>
              <a:xfrm>
                <a:off x="0" y="-38100"/>
                <a:ext cx="1242769" cy="183939"/>
              </a:xfrm>
              <a:prstGeom prst="rect">
                <a:avLst/>
              </a:prstGeom>
            </p:spPr>
            <p:txBody>
              <a:bodyPr anchor="ctr" rtlCol="false" tIns="50800" lIns="50800" bIns="50800" rIns="50800"/>
              <a:lstStyle/>
              <a:p>
                <a:pPr algn="ctr">
                  <a:lnSpc>
                    <a:spcPts val="3080"/>
                  </a:lnSpc>
                </a:pPr>
              </a:p>
            </p:txBody>
          </p:sp>
        </p:grpSp>
        <p:grpSp>
          <p:nvGrpSpPr>
            <p:cNvPr name="Group 11" id="11"/>
            <p:cNvGrpSpPr/>
            <p:nvPr/>
          </p:nvGrpSpPr>
          <p:grpSpPr>
            <a:xfrm rot="0">
              <a:off x="0" y="2162895"/>
              <a:ext cx="11267687" cy="5122011"/>
              <a:chOff x="0" y="0"/>
              <a:chExt cx="1242769" cy="564932"/>
            </a:xfrm>
          </p:grpSpPr>
          <p:sp>
            <p:nvSpPr>
              <p:cNvPr name="Freeform 12" id="12"/>
              <p:cNvSpPr/>
              <p:nvPr/>
            </p:nvSpPr>
            <p:spPr>
              <a:xfrm flipH="false" flipV="false" rot="0">
                <a:off x="0" y="0"/>
                <a:ext cx="1242769" cy="564932"/>
              </a:xfrm>
              <a:custGeom>
                <a:avLst/>
                <a:gdLst/>
                <a:ahLst/>
                <a:cxnLst/>
                <a:rect r="r" b="b" t="t" l="l"/>
                <a:pathLst>
                  <a:path h="564932" w="1242769">
                    <a:moveTo>
                      <a:pt x="34455" y="0"/>
                    </a:moveTo>
                    <a:lnTo>
                      <a:pt x="1208314" y="0"/>
                    </a:lnTo>
                    <a:cubicBezTo>
                      <a:pt x="1227343" y="0"/>
                      <a:pt x="1242769" y="15426"/>
                      <a:pt x="1242769" y="34455"/>
                    </a:cubicBezTo>
                    <a:lnTo>
                      <a:pt x="1242769" y="530477"/>
                    </a:lnTo>
                    <a:cubicBezTo>
                      <a:pt x="1242769" y="549506"/>
                      <a:pt x="1227343" y="564932"/>
                      <a:pt x="1208314" y="564932"/>
                    </a:cubicBezTo>
                    <a:lnTo>
                      <a:pt x="34455" y="564932"/>
                    </a:lnTo>
                    <a:cubicBezTo>
                      <a:pt x="15426" y="564932"/>
                      <a:pt x="0" y="549506"/>
                      <a:pt x="0" y="530477"/>
                    </a:cubicBezTo>
                    <a:lnTo>
                      <a:pt x="0" y="34455"/>
                    </a:lnTo>
                    <a:cubicBezTo>
                      <a:pt x="0" y="15426"/>
                      <a:pt x="15426" y="0"/>
                      <a:pt x="34455"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13" id="13"/>
              <p:cNvSpPr txBox="true"/>
              <p:nvPr/>
            </p:nvSpPr>
            <p:spPr>
              <a:xfrm>
                <a:off x="0" y="-38100"/>
                <a:ext cx="1242769" cy="603032"/>
              </a:xfrm>
              <a:prstGeom prst="rect">
                <a:avLst/>
              </a:prstGeom>
            </p:spPr>
            <p:txBody>
              <a:bodyPr anchor="ctr" rtlCol="false" tIns="50800" lIns="50800" bIns="50800" rIns="50800"/>
              <a:lstStyle/>
              <a:p>
                <a:pPr algn="ctr">
                  <a:lnSpc>
                    <a:spcPts val="3080"/>
                  </a:lnSpc>
                </a:pPr>
              </a:p>
            </p:txBody>
          </p:sp>
        </p:grpSp>
        <p:grpSp>
          <p:nvGrpSpPr>
            <p:cNvPr name="Group 14" id="14"/>
            <p:cNvGrpSpPr/>
            <p:nvPr/>
          </p:nvGrpSpPr>
          <p:grpSpPr>
            <a:xfrm rot="0">
              <a:off x="760129" y="0"/>
              <a:ext cx="9747429" cy="6658551"/>
              <a:chOff x="0" y="0"/>
              <a:chExt cx="1853147" cy="1265900"/>
            </a:xfrm>
          </p:grpSpPr>
          <p:sp>
            <p:nvSpPr>
              <p:cNvPr name="Freeform 15" id="15"/>
              <p:cNvSpPr/>
              <p:nvPr/>
            </p:nvSpPr>
            <p:spPr>
              <a:xfrm flipH="false" flipV="false" rot="0">
                <a:off x="0" y="0"/>
                <a:ext cx="1853147" cy="1265900"/>
              </a:xfrm>
              <a:custGeom>
                <a:avLst/>
                <a:gdLst/>
                <a:ahLst/>
                <a:cxnLst/>
                <a:rect r="r" b="b" t="t" l="l"/>
                <a:pathLst>
                  <a:path h="1265900" w="1853147">
                    <a:moveTo>
                      <a:pt x="43622" y="0"/>
                    </a:moveTo>
                    <a:lnTo>
                      <a:pt x="1809525" y="0"/>
                    </a:lnTo>
                    <a:cubicBezTo>
                      <a:pt x="1833616" y="0"/>
                      <a:pt x="1853147" y="19530"/>
                      <a:pt x="1853147" y="43622"/>
                    </a:cubicBezTo>
                    <a:lnTo>
                      <a:pt x="1853147" y="1222278"/>
                    </a:lnTo>
                    <a:cubicBezTo>
                      <a:pt x="1853147" y="1246370"/>
                      <a:pt x="1833616" y="1265900"/>
                      <a:pt x="1809525" y="1265900"/>
                    </a:cubicBezTo>
                    <a:lnTo>
                      <a:pt x="43622" y="1265900"/>
                    </a:lnTo>
                    <a:cubicBezTo>
                      <a:pt x="19530" y="1265900"/>
                      <a:pt x="0" y="1246370"/>
                      <a:pt x="0" y="1222278"/>
                    </a:cubicBezTo>
                    <a:lnTo>
                      <a:pt x="0" y="43622"/>
                    </a:lnTo>
                    <a:cubicBezTo>
                      <a:pt x="0" y="19530"/>
                      <a:pt x="19530" y="0"/>
                      <a:pt x="43622" y="0"/>
                    </a:cubicBezTo>
                    <a:close/>
                  </a:path>
                </a:pathLst>
              </a:custGeom>
              <a:blipFill>
                <a:blip r:embed="rId4"/>
                <a:stretch>
                  <a:fillRect l="-14903" t="0" r="-14903" b="0"/>
                </a:stretch>
              </a:blipFill>
            </p:spPr>
          </p:sp>
        </p:grpSp>
        <p:sp>
          <p:nvSpPr>
            <p:cNvPr name="TextBox 16" id="16"/>
            <p:cNvSpPr txBox="true"/>
            <p:nvPr/>
          </p:nvSpPr>
          <p:spPr>
            <a:xfrm rot="0">
              <a:off x="0" y="7741443"/>
              <a:ext cx="11267687" cy="875302"/>
            </a:xfrm>
            <a:prstGeom prst="rect">
              <a:avLst/>
            </a:prstGeom>
          </p:spPr>
          <p:txBody>
            <a:bodyPr anchor="t" rtlCol="false" tIns="0" lIns="0" bIns="0" rIns="0">
              <a:spAutoFit/>
            </a:bodyPr>
            <a:lstStyle/>
            <a:p>
              <a:pPr algn="ctr">
                <a:lnSpc>
                  <a:spcPts val="5516"/>
                </a:lnSpc>
                <a:spcBef>
                  <a:spcPct val="0"/>
                </a:spcBef>
              </a:pPr>
              <a:r>
                <a:rPr lang="en-US" b="true" sz="3940">
                  <a:solidFill>
                    <a:srgbClr val="FFFFFF"/>
                  </a:solidFill>
                  <a:latin typeface="Cerebri Bold"/>
                  <a:ea typeface="Cerebri Bold"/>
                  <a:cs typeface="Cerebri Bold"/>
                  <a:sym typeface="Cerebri Bold"/>
                </a:rPr>
                <a:t>Low-Rank Adaptation (LoRA)</a:t>
              </a:r>
            </a:p>
          </p:txBody>
        </p:sp>
      </p:grpSp>
      <p:sp>
        <p:nvSpPr>
          <p:cNvPr name="TextBox 17" id="17"/>
          <p:cNvSpPr txBox="true"/>
          <p:nvPr/>
        </p:nvSpPr>
        <p:spPr>
          <a:xfrm rot="0">
            <a:off x="4932770" y="1100668"/>
            <a:ext cx="8422459" cy="953135"/>
          </a:xfrm>
          <a:prstGeom prst="rect">
            <a:avLst/>
          </a:prstGeom>
        </p:spPr>
        <p:txBody>
          <a:bodyPr anchor="t" rtlCol="false" tIns="0" lIns="0" bIns="0" rIns="0">
            <a:spAutoFit/>
          </a:bodyPr>
          <a:lstStyle/>
          <a:p>
            <a:pPr algn="ctr">
              <a:lnSpc>
                <a:spcPts val="7840"/>
              </a:lnSpc>
              <a:spcBef>
                <a:spcPct val="0"/>
              </a:spcBef>
            </a:pPr>
            <a:r>
              <a:rPr lang="en-US" b="true" sz="5600">
                <a:solidFill>
                  <a:srgbClr val="0054C5"/>
                </a:solidFill>
                <a:latin typeface="Cerebri Bold"/>
                <a:ea typeface="Cerebri Bold"/>
                <a:cs typeface="Cerebri Bold"/>
                <a:sym typeface="Cerebri Bold"/>
              </a:rPr>
              <a:t>Dasar Teori</a:t>
            </a:r>
          </a:p>
        </p:txBody>
      </p:sp>
      <p:sp>
        <p:nvSpPr>
          <p:cNvPr name="TextBox 18" id="18"/>
          <p:cNvSpPr txBox="true"/>
          <p:nvPr/>
        </p:nvSpPr>
        <p:spPr>
          <a:xfrm rot="0">
            <a:off x="9467262" y="2239010"/>
            <a:ext cx="7792038" cy="3002742"/>
          </a:xfrm>
          <a:prstGeom prst="rect">
            <a:avLst/>
          </a:prstGeom>
        </p:spPr>
        <p:txBody>
          <a:bodyPr anchor="t" rtlCol="false" tIns="0" lIns="0" bIns="0" rIns="0">
            <a:spAutoFit/>
          </a:bodyPr>
          <a:lstStyle/>
          <a:p>
            <a:pPr algn="just">
              <a:lnSpc>
                <a:spcPts val="2001"/>
              </a:lnSpc>
            </a:pPr>
            <a:r>
              <a:rPr lang="en-US" sz="1429" b="true">
                <a:solidFill>
                  <a:srgbClr val="39352C"/>
                </a:solidFill>
                <a:latin typeface="Cerebri Bold"/>
                <a:ea typeface="Cerebri Bold"/>
                <a:cs typeface="Cerebri Bold"/>
                <a:sym typeface="Cerebri Bold"/>
              </a:rPr>
              <a:t>Pretrained Weights (W)</a:t>
            </a:r>
            <a:r>
              <a:rPr lang="en-US" sz="1429">
                <a:solidFill>
                  <a:srgbClr val="39352C"/>
                </a:solidFill>
                <a:latin typeface="Cerebri"/>
                <a:ea typeface="Cerebri"/>
                <a:cs typeface="Cerebri"/>
                <a:sym typeface="Cerebri"/>
              </a:rPr>
              <a:t> di sebelah kiri adalah </a:t>
            </a:r>
            <a:r>
              <a:rPr lang="en-US" sz="1429" b="true">
                <a:solidFill>
                  <a:srgbClr val="39352C"/>
                </a:solidFill>
                <a:latin typeface="Cerebri Bold"/>
                <a:ea typeface="Cerebri Bold"/>
                <a:cs typeface="Cerebri Bold"/>
                <a:sym typeface="Cerebri Bold"/>
              </a:rPr>
              <a:t>bobot model AI</a:t>
            </a:r>
            <a:r>
              <a:rPr lang="en-US" sz="1429">
                <a:solidFill>
                  <a:srgbClr val="39352C"/>
                </a:solidFill>
                <a:latin typeface="Cerebri"/>
                <a:ea typeface="Cerebri"/>
                <a:cs typeface="Cerebri"/>
                <a:sym typeface="Cerebri"/>
              </a:rPr>
              <a:t> yang sudah dilatih sebelumnya - ini seperti </a:t>
            </a:r>
            <a:r>
              <a:rPr lang="en-US" sz="1429" b="true">
                <a:solidFill>
                  <a:srgbClr val="39352C"/>
                </a:solidFill>
                <a:latin typeface="Cerebri Bold"/>
                <a:ea typeface="Cerebri Bold"/>
                <a:cs typeface="Cerebri Bold"/>
                <a:sym typeface="Cerebri Bold"/>
              </a:rPr>
              <a:t>"pengetahuan dasar"</a:t>
            </a:r>
            <a:r>
              <a:rPr lang="en-US" sz="1429">
                <a:solidFill>
                  <a:srgbClr val="39352C"/>
                </a:solidFill>
                <a:latin typeface="Cerebri"/>
                <a:ea typeface="Cerebri"/>
                <a:cs typeface="Cerebri"/>
                <a:sym typeface="Cerebri"/>
              </a:rPr>
              <a:t> yang sudah dimiliki model. Matrix ini berukuran d×d, biasanya sangat besar.</a:t>
            </a:r>
          </a:p>
          <a:p>
            <a:pPr algn="just">
              <a:lnSpc>
                <a:spcPts val="2001"/>
              </a:lnSpc>
            </a:pPr>
          </a:p>
          <a:p>
            <a:pPr algn="just">
              <a:lnSpc>
                <a:spcPts val="2001"/>
              </a:lnSpc>
            </a:pPr>
            <a:r>
              <a:rPr lang="en-US" sz="1429">
                <a:solidFill>
                  <a:srgbClr val="39352C"/>
                </a:solidFill>
                <a:latin typeface="Cerebri"/>
                <a:ea typeface="Cerebri"/>
                <a:cs typeface="Cerebri"/>
                <a:sym typeface="Cerebri"/>
              </a:rPr>
              <a:t>Alih-alih mengubah W secara langsung (yang memerlukan memori dan komputasi sangat besar), LoRA menambahkan perubahan kecil melalui dua matrix di sebelah kanan:</a:t>
            </a:r>
          </a:p>
          <a:p>
            <a:pPr algn="just" marL="308696" indent="-154348" lvl="1">
              <a:lnSpc>
                <a:spcPts val="2001"/>
              </a:lnSpc>
              <a:buFont typeface="Arial"/>
              <a:buChar char="•"/>
            </a:pPr>
            <a:r>
              <a:rPr lang="en-US" sz="1429">
                <a:solidFill>
                  <a:srgbClr val="39352C"/>
                </a:solidFill>
                <a:latin typeface="Cerebri"/>
                <a:ea typeface="Cerebri"/>
                <a:cs typeface="Cerebri"/>
                <a:sym typeface="Cerebri"/>
              </a:rPr>
              <a:t>Matrix A: Diinisialisasi dengan nilai acak dari distribusi normal N(0, σ²)</a:t>
            </a:r>
          </a:p>
          <a:p>
            <a:pPr algn="just" marL="308696" indent="-154348" lvl="1">
              <a:lnSpc>
                <a:spcPts val="2001"/>
              </a:lnSpc>
              <a:buFont typeface="Arial"/>
              <a:buChar char="•"/>
            </a:pPr>
            <a:r>
              <a:rPr lang="en-US" sz="1429">
                <a:solidFill>
                  <a:srgbClr val="39352C"/>
                </a:solidFill>
                <a:latin typeface="Cerebri"/>
                <a:ea typeface="Cerebri"/>
                <a:cs typeface="Cerebri"/>
                <a:sym typeface="Cerebri"/>
              </a:rPr>
              <a:t>Matrix B: Diinisialisasi dengan nilai 0</a:t>
            </a:r>
          </a:p>
          <a:p>
            <a:pPr algn="just">
              <a:lnSpc>
                <a:spcPts val="2001"/>
              </a:lnSpc>
            </a:pPr>
          </a:p>
          <a:p>
            <a:pPr algn="just">
              <a:lnSpc>
                <a:spcPts val="2001"/>
              </a:lnSpc>
            </a:pPr>
            <a:r>
              <a:rPr lang="en-US" sz="1429">
                <a:solidFill>
                  <a:srgbClr val="39352C"/>
                </a:solidFill>
                <a:latin typeface="Cerebri"/>
                <a:ea typeface="Cerebri"/>
                <a:cs typeface="Cerebri"/>
                <a:sym typeface="Cerebri"/>
              </a:rPr>
              <a:t>Kedua matrix ini berukuran lebih kecil dengan dimensi r (rank) yang jauh lebih kecil dari d. Hasil perkalian A×B menghasilkan perubahan yang ditambahkan ke W untuk menghasilkan output h (dari input x).</a:t>
            </a:r>
          </a:p>
        </p:txBody>
      </p:sp>
      <p:sp>
        <p:nvSpPr>
          <p:cNvPr name="TextBox 19" id="19"/>
          <p:cNvSpPr txBox="true"/>
          <p:nvPr/>
        </p:nvSpPr>
        <p:spPr>
          <a:xfrm rot="0">
            <a:off x="9467262" y="5537111"/>
            <a:ext cx="7487238" cy="3980815"/>
          </a:xfrm>
          <a:prstGeom prst="rect">
            <a:avLst/>
          </a:prstGeom>
        </p:spPr>
        <p:txBody>
          <a:bodyPr anchor="t" rtlCol="false" tIns="0" lIns="0" bIns="0" rIns="0">
            <a:spAutoFit/>
          </a:bodyPr>
          <a:lstStyle/>
          <a:p>
            <a:pPr algn="just">
              <a:lnSpc>
                <a:spcPts val="2660"/>
              </a:lnSpc>
            </a:pPr>
            <a:r>
              <a:rPr lang="en-US" sz="1900">
                <a:solidFill>
                  <a:srgbClr val="39352C"/>
                </a:solidFill>
                <a:latin typeface="Cerebri"/>
                <a:ea typeface="Cerebri"/>
                <a:cs typeface="Cerebri"/>
                <a:sym typeface="Cerebri"/>
              </a:rPr>
              <a:t>Simplenya ibarat kita punya ensiklopedia lengkap (Pretrained Weights) yang sangat tebal dan berat. Kita ingin menambahkan informasi baru tentang topik tertentu.</a:t>
            </a:r>
          </a:p>
          <a:p>
            <a:pPr algn="just">
              <a:lnSpc>
                <a:spcPts val="2660"/>
              </a:lnSpc>
            </a:pPr>
          </a:p>
          <a:p>
            <a:pPr algn="just">
              <a:lnSpc>
                <a:spcPts val="2660"/>
              </a:lnSpc>
            </a:pPr>
            <a:r>
              <a:rPr lang="en-US" sz="1900" b="true">
                <a:solidFill>
                  <a:srgbClr val="39352C"/>
                </a:solidFill>
                <a:latin typeface="Cerebri Bold"/>
                <a:ea typeface="Cerebri Bold"/>
                <a:cs typeface="Cerebri Bold"/>
                <a:sym typeface="Cerebri Bold"/>
              </a:rPr>
              <a:t>Pendekatan tradisional</a:t>
            </a:r>
            <a:r>
              <a:rPr lang="en-US" sz="1900">
                <a:solidFill>
                  <a:srgbClr val="39352C"/>
                </a:solidFill>
                <a:latin typeface="Cerebri"/>
                <a:ea typeface="Cerebri"/>
                <a:cs typeface="Cerebri"/>
                <a:sym typeface="Cerebri"/>
              </a:rPr>
              <a:t>: Menulis ulang seluruh ensiklopedia → sangat mahal dan memakan waktu</a:t>
            </a:r>
          </a:p>
          <a:p>
            <a:pPr algn="just">
              <a:lnSpc>
                <a:spcPts val="2660"/>
              </a:lnSpc>
            </a:pPr>
          </a:p>
          <a:p>
            <a:pPr algn="just">
              <a:lnSpc>
                <a:spcPts val="2660"/>
              </a:lnSpc>
            </a:pPr>
            <a:r>
              <a:rPr lang="en-US" sz="1900" b="true">
                <a:solidFill>
                  <a:srgbClr val="39352C"/>
                </a:solidFill>
                <a:latin typeface="Cerebri Bold"/>
                <a:ea typeface="Cerebri Bold"/>
                <a:cs typeface="Cerebri Bold"/>
                <a:sym typeface="Cerebri Bold"/>
              </a:rPr>
              <a:t>Pendekatan LoRA</a:t>
            </a:r>
            <a:r>
              <a:rPr lang="en-US" sz="1900">
                <a:solidFill>
                  <a:srgbClr val="39352C"/>
                </a:solidFill>
                <a:latin typeface="Cerebri"/>
                <a:ea typeface="Cerebri"/>
                <a:cs typeface="Cerebri"/>
                <a:sym typeface="Cerebri"/>
              </a:rPr>
              <a:t>: Membuat buku catatan tipis (Matrix A dan B) yang berisi hanya pembaruan dan catatan tambahan. Ketika kita butuh informasi, kita tetap membaca ensiklopedia asli PLUS catatan tambahan yang udah dibuat sebelumnya.</a:t>
            </a:r>
          </a:p>
          <a:p>
            <a:pPr algn="just">
              <a:lnSpc>
                <a:spcPts val="2660"/>
              </a:lnSpc>
            </a:pPr>
          </a:p>
        </p:txBody>
      </p:sp>
      <p:grpSp>
        <p:nvGrpSpPr>
          <p:cNvPr name="Group 20" id="20"/>
          <p:cNvGrpSpPr/>
          <p:nvPr/>
        </p:nvGrpSpPr>
        <p:grpSpPr>
          <a:xfrm rot="0">
            <a:off x="7616365" y="-17690"/>
            <a:ext cx="3055270" cy="1205443"/>
            <a:chOff x="0" y="0"/>
            <a:chExt cx="4073693" cy="1607257"/>
          </a:xfrm>
        </p:grpSpPr>
        <p:sp>
          <p:nvSpPr>
            <p:cNvPr name="Freeform 21" id="21"/>
            <p:cNvSpPr/>
            <p:nvPr/>
          </p:nvSpPr>
          <p:spPr>
            <a:xfrm flipH="false" flipV="false" rot="0">
              <a:off x="0" y="0"/>
              <a:ext cx="4073693" cy="1607257"/>
            </a:xfrm>
            <a:custGeom>
              <a:avLst/>
              <a:gdLst/>
              <a:ahLst/>
              <a:cxnLst/>
              <a:rect r="r" b="b" t="t" l="l"/>
              <a:pathLst>
                <a:path h="1607257" w="4073693">
                  <a:moveTo>
                    <a:pt x="0" y="0"/>
                  </a:moveTo>
                  <a:lnTo>
                    <a:pt x="4073693" y="0"/>
                  </a:lnTo>
                  <a:lnTo>
                    <a:pt x="4073693" y="1607257"/>
                  </a:lnTo>
                  <a:lnTo>
                    <a:pt x="0" y="16072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278205"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7"/>
              <a:stretch>
                <a:fillRect l="0" t="0" r="0" b="0"/>
              </a:stretch>
            </a:blipFill>
          </p:spPr>
        </p:sp>
        <p:sp>
          <p:nvSpPr>
            <p:cNvPr name="Freeform 23" id="23"/>
            <p:cNvSpPr/>
            <p:nvPr/>
          </p:nvSpPr>
          <p:spPr>
            <a:xfrm flipH="false" flipV="false" rot="0">
              <a:off x="2036847"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8"/>
              <a:stretch>
                <a:fillRect l="0" t="0" r="0" b="0"/>
              </a:stretch>
            </a:blipFill>
          </p:spPr>
        </p:sp>
      </p:grpSp>
    </p:spTree>
  </p:cSld>
  <p:clrMapOvr>
    <a:masterClrMapping/>
  </p:clrMapOvr>
  <p:transition spd="slow">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4274147" y="-4132490"/>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526264" y="8858743"/>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grpSp>
        <p:nvGrpSpPr>
          <p:cNvPr name="Group 4" id="4"/>
          <p:cNvGrpSpPr/>
          <p:nvPr/>
        </p:nvGrpSpPr>
        <p:grpSpPr>
          <a:xfrm rot="0">
            <a:off x="1028700" y="480023"/>
            <a:ext cx="16230600" cy="301625"/>
            <a:chOff x="0" y="0"/>
            <a:chExt cx="21640800" cy="402167"/>
          </a:xfrm>
        </p:grpSpPr>
        <p:sp>
          <p:nvSpPr>
            <p:cNvPr name="AutoShape 5" id="5"/>
            <p:cNvSpPr/>
            <p:nvPr/>
          </p:nvSpPr>
          <p:spPr>
            <a:xfrm>
              <a:off x="4131137" y="201083"/>
              <a:ext cx="13915256" cy="0"/>
            </a:xfrm>
            <a:prstGeom prst="line">
              <a:avLst/>
            </a:prstGeom>
            <a:ln cap="flat" w="26151">
              <a:solidFill>
                <a:srgbClr val="39352C"/>
              </a:solidFill>
              <a:prstDash val="solid"/>
              <a:headEnd type="none" len="sm" w="sm"/>
              <a:tailEnd type="none" len="sm" w="sm"/>
            </a:ln>
          </p:spPr>
        </p:sp>
        <p:sp>
          <p:nvSpPr>
            <p:cNvPr name="TextBox 6" id="6"/>
            <p:cNvSpPr txBox="true"/>
            <p:nvPr/>
          </p:nvSpPr>
          <p:spPr>
            <a:xfrm rot="0">
              <a:off x="18046393" y="-38100"/>
              <a:ext cx="3594407" cy="440267"/>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7" id="7"/>
            <p:cNvSpPr txBox="true"/>
            <p:nvPr/>
          </p:nvSpPr>
          <p:spPr>
            <a:xfrm rot="0">
              <a:off x="0" y="-38100"/>
              <a:ext cx="4131137" cy="440266"/>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grpSp>
      <p:grpSp>
        <p:nvGrpSpPr>
          <p:cNvPr name="Group 8" id="8"/>
          <p:cNvGrpSpPr/>
          <p:nvPr/>
        </p:nvGrpSpPr>
        <p:grpSpPr>
          <a:xfrm rot="0">
            <a:off x="550240" y="2859214"/>
            <a:ext cx="8450765" cy="6658711"/>
            <a:chOff x="0" y="0"/>
            <a:chExt cx="11267687" cy="8878282"/>
          </a:xfrm>
        </p:grpSpPr>
        <p:grpSp>
          <p:nvGrpSpPr>
            <p:cNvPr name="Group 9" id="9"/>
            <p:cNvGrpSpPr/>
            <p:nvPr/>
          </p:nvGrpSpPr>
          <p:grpSpPr>
            <a:xfrm rot="0">
              <a:off x="0" y="7556017"/>
              <a:ext cx="11267687" cy="1322265"/>
              <a:chOff x="0" y="0"/>
              <a:chExt cx="1242769" cy="145839"/>
            </a:xfrm>
          </p:grpSpPr>
          <p:sp>
            <p:nvSpPr>
              <p:cNvPr name="Freeform 10" id="10"/>
              <p:cNvSpPr/>
              <p:nvPr/>
            </p:nvSpPr>
            <p:spPr>
              <a:xfrm flipH="false" flipV="false" rot="0">
                <a:off x="0" y="0"/>
                <a:ext cx="1242769" cy="145839"/>
              </a:xfrm>
              <a:custGeom>
                <a:avLst/>
                <a:gdLst/>
                <a:ahLst/>
                <a:cxnLst/>
                <a:rect r="r" b="b" t="t" l="l"/>
                <a:pathLst>
                  <a:path h="145839" w="1242769">
                    <a:moveTo>
                      <a:pt x="34455" y="0"/>
                    </a:moveTo>
                    <a:lnTo>
                      <a:pt x="1208314" y="0"/>
                    </a:lnTo>
                    <a:cubicBezTo>
                      <a:pt x="1227343" y="0"/>
                      <a:pt x="1242769" y="15426"/>
                      <a:pt x="1242769" y="34455"/>
                    </a:cubicBezTo>
                    <a:lnTo>
                      <a:pt x="1242769" y="111384"/>
                    </a:lnTo>
                    <a:cubicBezTo>
                      <a:pt x="1242769" y="130413"/>
                      <a:pt x="1227343" y="145839"/>
                      <a:pt x="1208314" y="145839"/>
                    </a:cubicBezTo>
                    <a:lnTo>
                      <a:pt x="34455" y="145839"/>
                    </a:lnTo>
                    <a:cubicBezTo>
                      <a:pt x="15426" y="145839"/>
                      <a:pt x="0" y="130413"/>
                      <a:pt x="0" y="111384"/>
                    </a:cubicBezTo>
                    <a:lnTo>
                      <a:pt x="0" y="34455"/>
                    </a:lnTo>
                    <a:cubicBezTo>
                      <a:pt x="0" y="15426"/>
                      <a:pt x="15426" y="0"/>
                      <a:pt x="34455" y="0"/>
                    </a:cubicBez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1" id="11"/>
              <p:cNvSpPr txBox="true"/>
              <p:nvPr/>
            </p:nvSpPr>
            <p:spPr>
              <a:xfrm>
                <a:off x="0" y="-38100"/>
                <a:ext cx="1242769" cy="183939"/>
              </a:xfrm>
              <a:prstGeom prst="rect">
                <a:avLst/>
              </a:prstGeom>
            </p:spPr>
            <p:txBody>
              <a:bodyPr anchor="ctr" rtlCol="false" tIns="50800" lIns="50800" bIns="50800" rIns="50800"/>
              <a:lstStyle/>
              <a:p>
                <a:pPr algn="ctr">
                  <a:lnSpc>
                    <a:spcPts val="3080"/>
                  </a:lnSpc>
                </a:pPr>
              </a:p>
            </p:txBody>
          </p:sp>
        </p:grpSp>
        <p:grpSp>
          <p:nvGrpSpPr>
            <p:cNvPr name="Group 12" id="12"/>
            <p:cNvGrpSpPr/>
            <p:nvPr/>
          </p:nvGrpSpPr>
          <p:grpSpPr>
            <a:xfrm rot="0">
              <a:off x="0" y="2162895"/>
              <a:ext cx="11267687" cy="5122011"/>
              <a:chOff x="0" y="0"/>
              <a:chExt cx="1242769" cy="564932"/>
            </a:xfrm>
          </p:grpSpPr>
          <p:sp>
            <p:nvSpPr>
              <p:cNvPr name="Freeform 13" id="13"/>
              <p:cNvSpPr/>
              <p:nvPr/>
            </p:nvSpPr>
            <p:spPr>
              <a:xfrm flipH="false" flipV="false" rot="0">
                <a:off x="0" y="0"/>
                <a:ext cx="1242769" cy="564932"/>
              </a:xfrm>
              <a:custGeom>
                <a:avLst/>
                <a:gdLst/>
                <a:ahLst/>
                <a:cxnLst/>
                <a:rect r="r" b="b" t="t" l="l"/>
                <a:pathLst>
                  <a:path h="564932" w="1242769">
                    <a:moveTo>
                      <a:pt x="34455" y="0"/>
                    </a:moveTo>
                    <a:lnTo>
                      <a:pt x="1208314" y="0"/>
                    </a:lnTo>
                    <a:cubicBezTo>
                      <a:pt x="1227343" y="0"/>
                      <a:pt x="1242769" y="15426"/>
                      <a:pt x="1242769" y="34455"/>
                    </a:cubicBezTo>
                    <a:lnTo>
                      <a:pt x="1242769" y="530477"/>
                    </a:lnTo>
                    <a:cubicBezTo>
                      <a:pt x="1242769" y="549506"/>
                      <a:pt x="1227343" y="564932"/>
                      <a:pt x="1208314" y="564932"/>
                    </a:cubicBezTo>
                    <a:lnTo>
                      <a:pt x="34455" y="564932"/>
                    </a:lnTo>
                    <a:cubicBezTo>
                      <a:pt x="15426" y="564932"/>
                      <a:pt x="0" y="549506"/>
                      <a:pt x="0" y="530477"/>
                    </a:cubicBezTo>
                    <a:lnTo>
                      <a:pt x="0" y="34455"/>
                    </a:lnTo>
                    <a:cubicBezTo>
                      <a:pt x="0" y="15426"/>
                      <a:pt x="15426" y="0"/>
                      <a:pt x="34455"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14" id="14"/>
              <p:cNvSpPr txBox="true"/>
              <p:nvPr/>
            </p:nvSpPr>
            <p:spPr>
              <a:xfrm>
                <a:off x="0" y="-38100"/>
                <a:ext cx="1242769" cy="603032"/>
              </a:xfrm>
              <a:prstGeom prst="rect">
                <a:avLst/>
              </a:prstGeom>
            </p:spPr>
            <p:txBody>
              <a:bodyPr anchor="ctr" rtlCol="false" tIns="50800" lIns="50800" bIns="50800" rIns="50800"/>
              <a:lstStyle/>
              <a:p>
                <a:pPr algn="ctr">
                  <a:lnSpc>
                    <a:spcPts val="3080"/>
                  </a:lnSpc>
                </a:pPr>
              </a:p>
            </p:txBody>
          </p:sp>
        </p:grpSp>
        <p:grpSp>
          <p:nvGrpSpPr>
            <p:cNvPr name="Group 15" id="15"/>
            <p:cNvGrpSpPr/>
            <p:nvPr/>
          </p:nvGrpSpPr>
          <p:grpSpPr>
            <a:xfrm rot="0">
              <a:off x="760129" y="0"/>
              <a:ext cx="9747429" cy="6658551"/>
              <a:chOff x="0" y="0"/>
              <a:chExt cx="1853147" cy="1265900"/>
            </a:xfrm>
          </p:grpSpPr>
          <p:sp>
            <p:nvSpPr>
              <p:cNvPr name="Freeform 16" id="16"/>
              <p:cNvSpPr/>
              <p:nvPr/>
            </p:nvSpPr>
            <p:spPr>
              <a:xfrm flipH="false" flipV="false" rot="0">
                <a:off x="0" y="0"/>
                <a:ext cx="1853147" cy="1265900"/>
              </a:xfrm>
              <a:custGeom>
                <a:avLst/>
                <a:gdLst/>
                <a:ahLst/>
                <a:cxnLst/>
                <a:rect r="r" b="b" t="t" l="l"/>
                <a:pathLst>
                  <a:path h="1265900" w="1853147">
                    <a:moveTo>
                      <a:pt x="43622" y="0"/>
                    </a:moveTo>
                    <a:lnTo>
                      <a:pt x="1809525" y="0"/>
                    </a:lnTo>
                    <a:cubicBezTo>
                      <a:pt x="1833616" y="0"/>
                      <a:pt x="1853147" y="19530"/>
                      <a:pt x="1853147" y="43622"/>
                    </a:cubicBezTo>
                    <a:lnTo>
                      <a:pt x="1853147" y="1222278"/>
                    </a:lnTo>
                    <a:cubicBezTo>
                      <a:pt x="1853147" y="1246370"/>
                      <a:pt x="1833616" y="1265900"/>
                      <a:pt x="1809525" y="1265900"/>
                    </a:cubicBezTo>
                    <a:lnTo>
                      <a:pt x="43622" y="1265900"/>
                    </a:lnTo>
                    <a:cubicBezTo>
                      <a:pt x="19530" y="1265900"/>
                      <a:pt x="0" y="1246370"/>
                      <a:pt x="0" y="1222278"/>
                    </a:cubicBezTo>
                    <a:lnTo>
                      <a:pt x="0" y="43622"/>
                    </a:lnTo>
                    <a:cubicBezTo>
                      <a:pt x="0" y="19530"/>
                      <a:pt x="19530" y="0"/>
                      <a:pt x="43622" y="0"/>
                    </a:cubicBezTo>
                    <a:close/>
                  </a:path>
                </a:pathLst>
              </a:custGeom>
              <a:blipFill>
                <a:blip r:embed="rId4"/>
                <a:stretch>
                  <a:fillRect l="-3056" t="0" r="-3056" b="0"/>
                </a:stretch>
              </a:blipFill>
            </p:spPr>
          </p:sp>
        </p:grpSp>
        <p:sp>
          <p:nvSpPr>
            <p:cNvPr name="TextBox 17" id="17"/>
            <p:cNvSpPr txBox="true"/>
            <p:nvPr/>
          </p:nvSpPr>
          <p:spPr>
            <a:xfrm rot="0">
              <a:off x="0" y="7741443"/>
              <a:ext cx="11267687" cy="875302"/>
            </a:xfrm>
            <a:prstGeom prst="rect">
              <a:avLst/>
            </a:prstGeom>
          </p:spPr>
          <p:txBody>
            <a:bodyPr anchor="t" rtlCol="false" tIns="0" lIns="0" bIns="0" rIns="0">
              <a:spAutoFit/>
            </a:bodyPr>
            <a:lstStyle/>
            <a:p>
              <a:pPr algn="ctr">
                <a:lnSpc>
                  <a:spcPts val="5516"/>
                </a:lnSpc>
                <a:spcBef>
                  <a:spcPct val="0"/>
                </a:spcBef>
              </a:pPr>
              <a:r>
                <a:rPr lang="en-US" b="true" sz="3940">
                  <a:solidFill>
                    <a:srgbClr val="FFFFFF"/>
                  </a:solidFill>
                  <a:latin typeface="Cerebri Bold"/>
                  <a:ea typeface="Cerebri Bold"/>
                  <a:cs typeface="Cerebri Bold"/>
                  <a:sym typeface="Cerebri Bold"/>
                </a:rPr>
                <a:t>Word Error Rate (WER)</a:t>
              </a:r>
            </a:p>
          </p:txBody>
        </p:sp>
      </p:grpSp>
      <p:sp>
        <p:nvSpPr>
          <p:cNvPr name="TextBox 18" id="18"/>
          <p:cNvSpPr txBox="true"/>
          <p:nvPr/>
        </p:nvSpPr>
        <p:spPr>
          <a:xfrm rot="0">
            <a:off x="4932770" y="1100668"/>
            <a:ext cx="8422459" cy="953135"/>
          </a:xfrm>
          <a:prstGeom prst="rect">
            <a:avLst/>
          </a:prstGeom>
        </p:spPr>
        <p:txBody>
          <a:bodyPr anchor="t" rtlCol="false" tIns="0" lIns="0" bIns="0" rIns="0">
            <a:spAutoFit/>
          </a:bodyPr>
          <a:lstStyle/>
          <a:p>
            <a:pPr algn="ctr">
              <a:lnSpc>
                <a:spcPts val="7840"/>
              </a:lnSpc>
              <a:spcBef>
                <a:spcPct val="0"/>
              </a:spcBef>
            </a:pPr>
            <a:r>
              <a:rPr lang="en-US" b="true" sz="5600">
                <a:solidFill>
                  <a:srgbClr val="0054C5"/>
                </a:solidFill>
                <a:latin typeface="Cerebri Bold"/>
                <a:ea typeface="Cerebri Bold"/>
                <a:cs typeface="Cerebri Bold"/>
                <a:sym typeface="Cerebri Bold"/>
              </a:rPr>
              <a:t>Dasar Teori</a:t>
            </a:r>
          </a:p>
        </p:txBody>
      </p:sp>
      <p:sp>
        <p:nvSpPr>
          <p:cNvPr name="TextBox 19" id="19"/>
          <p:cNvSpPr txBox="true"/>
          <p:nvPr/>
        </p:nvSpPr>
        <p:spPr>
          <a:xfrm rot="0">
            <a:off x="9495424" y="3180257"/>
            <a:ext cx="7719612" cy="5978525"/>
          </a:xfrm>
          <a:prstGeom prst="rect">
            <a:avLst/>
          </a:prstGeom>
        </p:spPr>
        <p:txBody>
          <a:bodyPr anchor="t" rtlCol="false" tIns="0" lIns="0" bIns="0" rIns="0">
            <a:spAutoFit/>
          </a:bodyPr>
          <a:lstStyle/>
          <a:p>
            <a:pPr algn="just">
              <a:lnSpc>
                <a:spcPts val="2799"/>
              </a:lnSpc>
            </a:pPr>
            <a:r>
              <a:rPr lang="en-US" b="true" sz="1999" i="true">
                <a:solidFill>
                  <a:srgbClr val="39352C"/>
                </a:solidFill>
                <a:latin typeface="Cerebri Bold Italics"/>
                <a:ea typeface="Cerebri Bold Italics"/>
                <a:cs typeface="Cerebri Bold Italics"/>
                <a:sym typeface="Cerebri Bold Italics"/>
              </a:rPr>
              <a:t>Word Error Rate </a:t>
            </a:r>
            <a:r>
              <a:rPr lang="en-US" sz="1999" b="true">
                <a:solidFill>
                  <a:srgbClr val="39352C"/>
                </a:solidFill>
                <a:latin typeface="Cerebri Bold"/>
                <a:ea typeface="Cerebri Bold"/>
                <a:cs typeface="Cerebri Bold"/>
                <a:sym typeface="Cerebri Bold"/>
              </a:rPr>
              <a:t>(WER)</a:t>
            </a:r>
            <a:r>
              <a:rPr lang="en-US" sz="1999">
                <a:solidFill>
                  <a:srgbClr val="39352C"/>
                </a:solidFill>
                <a:latin typeface="Cerebri"/>
                <a:ea typeface="Cerebri"/>
                <a:cs typeface="Cerebri"/>
                <a:sym typeface="Cerebri"/>
              </a:rPr>
              <a:t> adalah metrik standar emas dalam dunia </a:t>
            </a:r>
            <a:r>
              <a:rPr lang="en-US" sz="1999" b="true">
                <a:solidFill>
                  <a:srgbClr val="39352C"/>
                </a:solidFill>
                <a:latin typeface="Cerebri Bold"/>
                <a:ea typeface="Cerebri Bold"/>
                <a:cs typeface="Cerebri Bold"/>
                <a:sym typeface="Cerebri Bold"/>
              </a:rPr>
              <a:t>Automatic Speech Recognition (ASR)</a:t>
            </a:r>
            <a:r>
              <a:rPr lang="en-US" sz="1999">
                <a:solidFill>
                  <a:srgbClr val="39352C"/>
                </a:solidFill>
                <a:latin typeface="Cerebri"/>
                <a:ea typeface="Cerebri"/>
                <a:cs typeface="Cerebri"/>
                <a:sym typeface="Cerebri"/>
              </a:rPr>
              <a:t> untuk mengukur seberapa sering model melakukan kesalahan transkripsi. </a:t>
            </a:r>
          </a:p>
          <a:p>
            <a:pPr algn="just">
              <a:lnSpc>
                <a:spcPts val="2799"/>
              </a:lnSpc>
            </a:pPr>
          </a:p>
          <a:p>
            <a:pPr algn="just">
              <a:lnSpc>
                <a:spcPts val="2799"/>
              </a:lnSpc>
            </a:pPr>
            <a:r>
              <a:rPr lang="en-US" sz="1999" b="true">
                <a:solidFill>
                  <a:srgbClr val="39352C"/>
                </a:solidFill>
                <a:latin typeface="Cerebri Bold"/>
                <a:ea typeface="Cerebri Bold"/>
                <a:cs typeface="Cerebri Bold"/>
                <a:sym typeface="Cerebri Bold"/>
              </a:rPr>
              <a:t>Kesalahan dibagi menjadi 3 jenis: </a:t>
            </a:r>
          </a:p>
          <a:p>
            <a:pPr algn="just" marL="431797" indent="-215899" lvl="1">
              <a:lnSpc>
                <a:spcPts val="2799"/>
              </a:lnSpc>
              <a:buFont typeface="Arial"/>
              <a:buChar char="•"/>
            </a:pPr>
            <a:r>
              <a:rPr lang="en-US" sz="1999">
                <a:solidFill>
                  <a:srgbClr val="39352C"/>
                </a:solidFill>
                <a:latin typeface="Cerebri"/>
                <a:ea typeface="Cerebri"/>
                <a:cs typeface="Cerebri"/>
                <a:sym typeface="Cerebri"/>
              </a:rPr>
              <a:t>Substitusi (S): Salah mengenali kata (diganti kata lain).</a:t>
            </a:r>
          </a:p>
          <a:p>
            <a:pPr algn="just" marL="431797" indent="-215899" lvl="1">
              <a:lnSpc>
                <a:spcPts val="2799"/>
              </a:lnSpc>
              <a:buFont typeface="Arial"/>
              <a:buChar char="•"/>
            </a:pPr>
            <a:r>
              <a:rPr lang="en-US" sz="1999">
                <a:solidFill>
                  <a:srgbClr val="39352C"/>
                </a:solidFill>
                <a:latin typeface="Cerebri"/>
                <a:ea typeface="Cerebri"/>
                <a:cs typeface="Cerebri"/>
                <a:sym typeface="Cerebri"/>
              </a:rPr>
              <a:t>Delesi (D): Ada kata yang hilang/terlewat.</a:t>
            </a:r>
          </a:p>
          <a:p>
            <a:pPr algn="just" marL="431797" indent="-215899" lvl="1">
              <a:lnSpc>
                <a:spcPts val="2799"/>
              </a:lnSpc>
              <a:buFont typeface="Arial"/>
              <a:buChar char="•"/>
            </a:pPr>
            <a:r>
              <a:rPr lang="en-US" sz="1999">
                <a:solidFill>
                  <a:srgbClr val="39352C"/>
                </a:solidFill>
                <a:latin typeface="Cerebri"/>
                <a:ea typeface="Cerebri"/>
                <a:cs typeface="Cerebri"/>
                <a:sym typeface="Cerebri"/>
              </a:rPr>
              <a:t>Insersi (I): Ada kata tambahan yang tidak seharusnya ada.</a:t>
            </a:r>
          </a:p>
          <a:p>
            <a:pPr algn="just">
              <a:lnSpc>
                <a:spcPts val="2799"/>
              </a:lnSpc>
            </a:pPr>
          </a:p>
          <a:p>
            <a:pPr algn="just">
              <a:lnSpc>
                <a:spcPts val="2799"/>
              </a:lnSpc>
            </a:pPr>
            <a:r>
              <a:rPr lang="en-US" sz="1999" b="true">
                <a:solidFill>
                  <a:srgbClr val="39352C"/>
                </a:solidFill>
                <a:latin typeface="Cerebri Bold"/>
                <a:ea typeface="Cerebri Bold"/>
                <a:cs typeface="Cerebri Bold"/>
                <a:sym typeface="Cerebri Bold"/>
              </a:rPr>
              <a:t>𝑆</a:t>
            </a:r>
            <a:r>
              <a:rPr lang="en-US" sz="1999">
                <a:solidFill>
                  <a:srgbClr val="39352C"/>
                </a:solidFill>
                <a:latin typeface="Cerebri"/>
                <a:ea typeface="Cerebri"/>
                <a:cs typeface="Cerebri"/>
                <a:sym typeface="Cerebri"/>
              </a:rPr>
              <a:t> adalah jumlah substitusi (kata yang salah diganti), </a:t>
            </a:r>
            <a:r>
              <a:rPr lang="en-US" sz="1999" b="true">
                <a:solidFill>
                  <a:srgbClr val="39352C"/>
                </a:solidFill>
                <a:latin typeface="Cerebri Bold"/>
                <a:ea typeface="Cerebri Bold"/>
                <a:cs typeface="Cerebri Bold"/>
                <a:sym typeface="Cerebri Bold"/>
              </a:rPr>
              <a:t>𝐷</a:t>
            </a:r>
            <a:r>
              <a:rPr lang="en-US" sz="1999">
                <a:solidFill>
                  <a:srgbClr val="39352C"/>
                </a:solidFill>
                <a:latin typeface="Cerebri"/>
                <a:ea typeface="Cerebri"/>
                <a:cs typeface="Cerebri"/>
                <a:sym typeface="Cerebri"/>
              </a:rPr>
              <a:t> adalah</a:t>
            </a:r>
          </a:p>
          <a:p>
            <a:pPr algn="just">
              <a:lnSpc>
                <a:spcPts val="2799"/>
              </a:lnSpc>
            </a:pPr>
            <a:r>
              <a:rPr lang="en-US" sz="1999">
                <a:solidFill>
                  <a:srgbClr val="39352C"/>
                </a:solidFill>
                <a:latin typeface="Cerebri"/>
                <a:ea typeface="Cerebri"/>
                <a:cs typeface="Cerebri"/>
                <a:sym typeface="Cerebri"/>
              </a:rPr>
              <a:t>jumlah penghapusan (kata yang hilang dalam hipotesis), </a:t>
            </a:r>
            <a:r>
              <a:rPr lang="en-US" sz="1999" b="true">
                <a:solidFill>
                  <a:srgbClr val="39352C"/>
                </a:solidFill>
                <a:latin typeface="Cerebri Bold"/>
                <a:ea typeface="Cerebri Bold"/>
                <a:cs typeface="Cerebri Bold"/>
                <a:sym typeface="Cerebri Bold"/>
              </a:rPr>
              <a:t>𝐼</a:t>
            </a:r>
            <a:r>
              <a:rPr lang="en-US" sz="1999">
                <a:solidFill>
                  <a:srgbClr val="39352C"/>
                </a:solidFill>
                <a:latin typeface="Cerebri"/>
                <a:ea typeface="Cerebri"/>
                <a:cs typeface="Cerebri"/>
                <a:sym typeface="Cerebri"/>
              </a:rPr>
              <a:t> adalah jumlah penyisipan (kata tambahan dalam hipotesis), dan </a:t>
            </a:r>
            <a:r>
              <a:rPr lang="en-US" sz="1999" b="true">
                <a:solidFill>
                  <a:srgbClr val="39352C"/>
                </a:solidFill>
                <a:latin typeface="Cerebri Bold"/>
                <a:ea typeface="Cerebri Bold"/>
                <a:cs typeface="Cerebri Bold"/>
                <a:sym typeface="Cerebri Bold"/>
              </a:rPr>
              <a:t>𝑁</a:t>
            </a:r>
            <a:r>
              <a:rPr lang="en-US" sz="1999">
                <a:solidFill>
                  <a:srgbClr val="39352C"/>
                </a:solidFill>
                <a:latin typeface="Cerebri"/>
                <a:ea typeface="Cerebri"/>
                <a:cs typeface="Cerebri"/>
                <a:sym typeface="Cerebri"/>
              </a:rPr>
              <a:t> adalah total kata dalam referensi. </a:t>
            </a:r>
          </a:p>
          <a:p>
            <a:pPr algn="just">
              <a:lnSpc>
                <a:spcPts val="2799"/>
              </a:lnSpc>
            </a:pPr>
          </a:p>
          <a:p>
            <a:pPr algn="just">
              <a:lnSpc>
                <a:spcPts val="2799"/>
              </a:lnSpc>
            </a:pPr>
            <a:r>
              <a:rPr lang="en-US" sz="1999" b="true">
                <a:solidFill>
                  <a:srgbClr val="39352C"/>
                </a:solidFill>
                <a:latin typeface="Cerebri Bold"/>
                <a:ea typeface="Cerebri Bold"/>
                <a:cs typeface="Cerebri Bold"/>
                <a:sym typeface="Cerebri Bold"/>
              </a:rPr>
              <a:t>WER dinyatakan dalam persentase</a:t>
            </a:r>
            <a:r>
              <a:rPr lang="en-US" sz="1999">
                <a:solidFill>
                  <a:srgbClr val="39352C"/>
                </a:solidFill>
                <a:latin typeface="Cerebri"/>
                <a:ea typeface="Cerebri"/>
                <a:cs typeface="Cerebri"/>
                <a:sym typeface="Cerebri"/>
              </a:rPr>
              <a:t>, di mana nilai lebih rendah</a:t>
            </a:r>
          </a:p>
          <a:p>
            <a:pPr algn="just">
              <a:lnSpc>
                <a:spcPts val="2799"/>
              </a:lnSpc>
            </a:pPr>
            <a:r>
              <a:rPr lang="en-US" sz="1999">
                <a:solidFill>
                  <a:srgbClr val="39352C"/>
                </a:solidFill>
                <a:latin typeface="Cerebri"/>
                <a:ea typeface="Cerebri"/>
                <a:cs typeface="Cerebri"/>
                <a:sym typeface="Cerebri"/>
              </a:rPr>
              <a:t>menunjukkan akurasi lebih tinggi (</a:t>
            </a:r>
            <a:r>
              <a:rPr lang="en-US" sz="1999" b="true">
                <a:solidFill>
                  <a:srgbClr val="39352C"/>
                </a:solidFill>
                <a:latin typeface="Cerebri Bold"/>
                <a:ea typeface="Cerebri Bold"/>
                <a:cs typeface="Cerebri Bold"/>
                <a:sym typeface="Cerebri Bold"/>
              </a:rPr>
              <a:t>0% berarti sempurna, 100% atau lebih berarti kinerja sangat buruk</a:t>
            </a:r>
            <a:r>
              <a:rPr lang="en-US" sz="1999">
                <a:solidFill>
                  <a:srgbClr val="39352C"/>
                </a:solidFill>
                <a:latin typeface="Cerebri"/>
                <a:ea typeface="Cerebri"/>
                <a:cs typeface="Cerebri"/>
                <a:sym typeface="Cerebri"/>
              </a:rPr>
              <a:t>).</a:t>
            </a:r>
          </a:p>
        </p:txBody>
      </p:sp>
      <p:grpSp>
        <p:nvGrpSpPr>
          <p:cNvPr name="Group 20" id="20"/>
          <p:cNvGrpSpPr/>
          <p:nvPr/>
        </p:nvGrpSpPr>
        <p:grpSpPr>
          <a:xfrm rot="0">
            <a:off x="7616365" y="0"/>
            <a:ext cx="3055270" cy="1205443"/>
            <a:chOff x="0" y="0"/>
            <a:chExt cx="4073693" cy="1607257"/>
          </a:xfrm>
        </p:grpSpPr>
        <p:sp>
          <p:nvSpPr>
            <p:cNvPr name="Freeform 21" id="21"/>
            <p:cNvSpPr/>
            <p:nvPr/>
          </p:nvSpPr>
          <p:spPr>
            <a:xfrm flipH="false" flipV="false" rot="0">
              <a:off x="0" y="0"/>
              <a:ext cx="4073693" cy="1607257"/>
            </a:xfrm>
            <a:custGeom>
              <a:avLst/>
              <a:gdLst/>
              <a:ahLst/>
              <a:cxnLst/>
              <a:rect r="r" b="b" t="t" l="l"/>
              <a:pathLst>
                <a:path h="1607257" w="4073693">
                  <a:moveTo>
                    <a:pt x="0" y="0"/>
                  </a:moveTo>
                  <a:lnTo>
                    <a:pt x="4073693" y="0"/>
                  </a:lnTo>
                  <a:lnTo>
                    <a:pt x="4073693" y="1607257"/>
                  </a:lnTo>
                  <a:lnTo>
                    <a:pt x="0" y="16072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278205"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7"/>
              <a:stretch>
                <a:fillRect l="0" t="0" r="0" b="0"/>
              </a:stretch>
            </a:blipFill>
          </p:spPr>
        </p:sp>
        <p:sp>
          <p:nvSpPr>
            <p:cNvPr name="Freeform 23" id="23"/>
            <p:cNvSpPr/>
            <p:nvPr/>
          </p:nvSpPr>
          <p:spPr>
            <a:xfrm flipH="false" flipV="false" rot="0">
              <a:off x="2036847"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8"/>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4274147" y="-4132490"/>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526264" y="8858743"/>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grpSp>
        <p:nvGrpSpPr>
          <p:cNvPr name="Group 4" id="4"/>
          <p:cNvGrpSpPr/>
          <p:nvPr/>
        </p:nvGrpSpPr>
        <p:grpSpPr>
          <a:xfrm rot="0">
            <a:off x="1028700" y="480023"/>
            <a:ext cx="16230600" cy="301625"/>
            <a:chOff x="0" y="0"/>
            <a:chExt cx="21640800" cy="402167"/>
          </a:xfrm>
        </p:grpSpPr>
        <p:sp>
          <p:nvSpPr>
            <p:cNvPr name="AutoShape 5" id="5"/>
            <p:cNvSpPr/>
            <p:nvPr/>
          </p:nvSpPr>
          <p:spPr>
            <a:xfrm>
              <a:off x="4131137" y="201083"/>
              <a:ext cx="13915256" cy="0"/>
            </a:xfrm>
            <a:prstGeom prst="line">
              <a:avLst/>
            </a:prstGeom>
            <a:ln cap="flat" w="26151">
              <a:solidFill>
                <a:srgbClr val="39352C"/>
              </a:solidFill>
              <a:prstDash val="solid"/>
              <a:headEnd type="none" len="sm" w="sm"/>
              <a:tailEnd type="none" len="sm" w="sm"/>
            </a:ln>
          </p:spPr>
        </p:sp>
        <p:sp>
          <p:nvSpPr>
            <p:cNvPr name="TextBox 6" id="6"/>
            <p:cNvSpPr txBox="true"/>
            <p:nvPr/>
          </p:nvSpPr>
          <p:spPr>
            <a:xfrm rot="0">
              <a:off x="18046393" y="-38100"/>
              <a:ext cx="3594407" cy="440267"/>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7" id="7"/>
            <p:cNvSpPr txBox="true"/>
            <p:nvPr/>
          </p:nvSpPr>
          <p:spPr>
            <a:xfrm rot="0">
              <a:off x="0" y="-38100"/>
              <a:ext cx="4131137" cy="440266"/>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grpSp>
      <p:grpSp>
        <p:nvGrpSpPr>
          <p:cNvPr name="Group 8" id="8"/>
          <p:cNvGrpSpPr/>
          <p:nvPr/>
        </p:nvGrpSpPr>
        <p:grpSpPr>
          <a:xfrm rot="0">
            <a:off x="550240" y="3317874"/>
            <a:ext cx="8450765" cy="5036540"/>
            <a:chOff x="0" y="0"/>
            <a:chExt cx="11267687" cy="6715387"/>
          </a:xfrm>
        </p:grpSpPr>
        <p:grpSp>
          <p:nvGrpSpPr>
            <p:cNvPr name="Group 9" id="9"/>
            <p:cNvGrpSpPr/>
            <p:nvPr/>
          </p:nvGrpSpPr>
          <p:grpSpPr>
            <a:xfrm rot="0">
              <a:off x="0" y="5393123"/>
              <a:ext cx="11267687" cy="1322265"/>
              <a:chOff x="0" y="0"/>
              <a:chExt cx="1242769" cy="145839"/>
            </a:xfrm>
          </p:grpSpPr>
          <p:sp>
            <p:nvSpPr>
              <p:cNvPr name="Freeform 10" id="10"/>
              <p:cNvSpPr/>
              <p:nvPr/>
            </p:nvSpPr>
            <p:spPr>
              <a:xfrm flipH="false" flipV="false" rot="0">
                <a:off x="0" y="0"/>
                <a:ext cx="1242769" cy="145839"/>
              </a:xfrm>
              <a:custGeom>
                <a:avLst/>
                <a:gdLst/>
                <a:ahLst/>
                <a:cxnLst/>
                <a:rect r="r" b="b" t="t" l="l"/>
                <a:pathLst>
                  <a:path h="145839" w="1242769">
                    <a:moveTo>
                      <a:pt x="34455" y="0"/>
                    </a:moveTo>
                    <a:lnTo>
                      <a:pt x="1208314" y="0"/>
                    </a:lnTo>
                    <a:cubicBezTo>
                      <a:pt x="1227343" y="0"/>
                      <a:pt x="1242769" y="15426"/>
                      <a:pt x="1242769" y="34455"/>
                    </a:cubicBezTo>
                    <a:lnTo>
                      <a:pt x="1242769" y="111384"/>
                    </a:lnTo>
                    <a:cubicBezTo>
                      <a:pt x="1242769" y="130413"/>
                      <a:pt x="1227343" y="145839"/>
                      <a:pt x="1208314" y="145839"/>
                    </a:cubicBezTo>
                    <a:lnTo>
                      <a:pt x="34455" y="145839"/>
                    </a:lnTo>
                    <a:cubicBezTo>
                      <a:pt x="15426" y="145839"/>
                      <a:pt x="0" y="130413"/>
                      <a:pt x="0" y="111384"/>
                    </a:cubicBezTo>
                    <a:lnTo>
                      <a:pt x="0" y="34455"/>
                    </a:lnTo>
                    <a:cubicBezTo>
                      <a:pt x="0" y="15426"/>
                      <a:pt x="15426" y="0"/>
                      <a:pt x="34455" y="0"/>
                    </a:cubicBez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1" id="11"/>
              <p:cNvSpPr txBox="true"/>
              <p:nvPr/>
            </p:nvSpPr>
            <p:spPr>
              <a:xfrm>
                <a:off x="0" y="-38100"/>
                <a:ext cx="1242769" cy="183939"/>
              </a:xfrm>
              <a:prstGeom prst="rect">
                <a:avLst/>
              </a:prstGeom>
            </p:spPr>
            <p:txBody>
              <a:bodyPr anchor="ctr" rtlCol="false" tIns="50800" lIns="50800" bIns="50800" rIns="50800"/>
              <a:lstStyle/>
              <a:p>
                <a:pPr algn="ctr">
                  <a:lnSpc>
                    <a:spcPts val="3080"/>
                  </a:lnSpc>
                </a:pPr>
              </a:p>
            </p:txBody>
          </p:sp>
        </p:grpSp>
        <p:grpSp>
          <p:nvGrpSpPr>
            <p:cNvPr name="Group 12" id="12"/>
            <p:cNvGrpSpPr/>
            <p:nvPr/>
          </p:nvGrpSpPr>
          <p:grpSpPr>
            <a:xfrm rot="0">
              <a:off x="0" y="0"/>
              <a:ext cx="11267687" cy="5122011"/>
              <a:chOff x="0" y="0"/>
              <a:chExt cx="1242769" cy="564932"/>
            </a:xfrm>
          </p:grpSpPr>
          <p:sp>
            <p:nvSpPr>
              <p:cNvPr name="Freeform 13" id="13"/>
              <p:cNvSpPr/>
              <p:nvPr/>
            </p:nvSpPr>
            <p:spPr>
              <a:xfrm flipH="false" flipV="false" rot="0">
                <a:off x="0" y="0"/>
                <a:ext cx="1242769" cy="564932"/>
              </a:xfrm>
              <a:custGeom>
                <a:avLst/>
                <a:gdLst/>
                <a:ahLst/>
                <a:cxnLst/>
                <a:rect r="r" b="b" t="t" l="l"/>
                <a:pathLst>
                  <a:path h="564932" w="1242769">
                    <a:moveTo>
                      <a:pt x="34455" y="0"/>
                    </a:moveTo>
                    <a:lnTo>
                      <a:pt x="1208314" y="0"/>
                    </a:lnTo>
                    <a:cubicBezTo>
                      <a:pt x="1227343" y="0"/>
                      <a:pt x="1242769" y="15426"/>
                      <a:pt x="1242769" y="34455"/>
                    </a:cubicBezTo>
                    <a:lnTo>
                      <a:pt x="1242769" y="530477"/>
                    </a:lnTo>
                    <a:cubicBezTo>
                      <a:pt x="1242769" y="549506"/>
                      <a:pt x="1227343" y="564932"/>
                      <a:pt x="1208314" y="564932"/>
                    </a:cubicBezTo>
                    <a:lnTo>
                      <a:pt x="34455" y="564932"/>
                    </a:lnTo>
                    <a:cubicBezTo>
                      <a:pt x="15426" y="564932"/>
                      <a:pt x="0" y="549506"/>
                      <a:pt x="0" y="530477"/>
                    </a:cubicBezTo>
                    <a:lnTo>
                      <a:pt x="0" y="34455"/>
                    </a:lnTo>
                    <a:cubicBezTo>
                      <a:pt x="0" y="15426"/>
                      <a:pt x="15426" y="0"/>
                      <a:pt x="34455"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14" id="14"/>
              <p:cNvSpPr txBox="true"/>
              <p:nvPr/>
            </p:nvSpPr>
            <p:spPr>
              <a:xfrm>
                <a:off x="0" y="-38100"/>
                <a:ext cx="1242769" cy="603032"/>
              </a:xfrm>
              <a:prstGeom prst="rect">
                <a:avLst/>
              </a:prstGeom>
            </p:spPr>
            <p:txBody>
              <a:bodyPr anchor="ctr" rtlCol="false" tIns="50800" lIns="50800" bIns="50800" rIns="50800"/>
              <a:lstStyle/>
              <a:p>
                <a:pPr algn="ctr">
                  <a:lnSpc>
                    <a:spcPts val="3080"/>
                  </a:lnSpc>
                </a:pPr>
              </a:p>
            </p:txBody>
          </p:sp>
        </p:grpSp>
        <p:sp>
          <p:nvSpPr>
            <p:cNvPr name="TextBox 15" id="15"/>
            <p:cNvSpPr txBox="true"/>
            <p:nvPr/>
          </p:nvSpPr>
          <p:spPr>
            <a:xfrm rot="0">
              <a:off x="0" y="5578548"/>
              <a:ext cx="11267687" cy="875302"/>
            </a:xfrm>
            <a:prstGeom prst="rect">
              <a:avLst/>
            </a:prstGeom>
          </p:spPr>
          <p:txBody>
            <a:bodyPr anchor="t" rtlCol="false" tIns="0" lIns="0" bIns="0" rIns="0">
              <a:spAutoFit/>
            </a:bodyPr>
            <a:lstStyle/>
            <a:p>
              <a:pPr algn="ctr">
                <a:lnSpc>
                  <a:spcPts val="5516"/>
                </a:lnSpc>
                <a:spcBef>
                  <a:spcPct val="0"/>
                </a:spcBef>
              </a:pPr>
              <a:r>
                <a:rPr lang="en-US" b="true" sz="3940">
                  <a:solidFill>
                    <a:srgbClr val="FFFFFF"/>
                  </a:solidFill>
                  <a:latin typeface="Cerebri Bold"/>
                  <a:ea typeface="Cerebri Bold"/>
                  <a:cs typeface="Cerebri Bold"/>
                  <a:sym typeface="Cerebri Bold"/>
                </a:rPr>
                <a:t>Character Error Rate</a:t>
              </a:r>
            </a:p>
          </p:txBody>
        </p:sp>
        <p:sp>
          <p:nvSpPr>
            <p:cNvPr name="TextBox 16" id="16"/>
            <p:cNvSpPr txBox="true"/>
            <p:nvPr/>
          </p:nvSpPr>
          <p:spPr>
            <a:xfrm rot="0">
              <a:off x="1020695" y="2183325"/>
              <a:ext cx="2229695" cy="869941"/>
            </a:xfrm>
            <a:prstGeom prst="rect">
              <a:avLst/>
            </a:prstGeom>
          </p:spPr>
          <p:txBody>
            <a:bodyPr anchor="t" rtlCol="false" tIns="0" lIns="0" bIns="0" rIns="0">
              <a:spAutoFit/>
            </a:bodyPr>
            <a:lstStyle/>
            <a:p>
              <a:pPr algn="just">
                <a:lnSpc>
                  <a:spcPts val="5526"/>
                </a:lnSpc>
              </a:pPr>
              <a:r>
                <a:rPr lang="en-US" b="true" sz="3947" i="true">
                  <a:solidFill>
                    <a:srgbClr val="39352C"/>
                  </a:solidFill>
                  <a:latin typeface="Cerebri Bold Italics"/>
                  <a:ea typeface="Cerebri Bold Italics"/>
                  <a:cs typeface="Cerebri Bold Italics"/>
                  <a:sym typeface="Cerebri Bold Italics"/>
                </a:rPr>
                <a:t>CER = </a:t>
              </a:r>
            </a:p>
          </p:txBody>
        </p:sp>
        <p:sp>
          <p:nvSpPr>
            <p:cNvPr name="TextBox 17" id="17"/>
            <p:cNvSpPr txBox="true"/>
            <p:nvPr/>
          </p:nvSpPr>
          <p:spPr>
            <a:xfrm rot="0">
              <a:off x="3250389" y="1532334"/>
              <a:ext cx="5342227" cy="733492"/>
            </a:xfrm>
            <a:prstGeom prst="rect">
              <a:avLst/>
            </a:prstGeom>
          </p:spPr>
          <p:txBody>
            <a:bodyPr anchor="t" rtlCol="false" tIns="0" lIns="0" bIns="0" rIns="0">
              <a:spAutoFit/>
            </a:bodyPr>
            <a:lstStyle/>
            <a:p>
              <a:pPr algn="ctr">
                <a:lnSpc>
                  <a:spcPts val="4637"/>
                </a:lnSpc>
              </a:pPr>
              <a:r>
                <a:rPr lang="en-US" b="true" sz="3312" i="true">
                  <a:solidFill>
                    <a:srgbClr val="39352C"/>
                  </a:solidFill>
                  <a:latin typeface="Cerebri Bold Italics"/>
                  <a:ea typeface="Cerebri Bold Italics"/>
                  <a:cs typeface="Cerebri Bold Italics"/>
                  <a:sym typeface="Cerebri Bold Italics"/>
                </a:rPr>
                <a:t>Jumlah Huruf Salah</a:t>
              </a:r>
            </a:p>
          </p:txBody>
        </p:sp>
        <p:sp>
          <p:nvSpPr>
            <p:cNvPr name="AutoShape 18" id="18"/>
            <p:cNvSpPr/>
            <p:nvPr/>
          </p:nvSpPr>
          <p:spPr>
            <a:xfrm flipV="true">
              <a:off x="3250389" y="2656395"/>
              <a:ext cx="5342227" cy="11321"/>
            </a:xfrm>
            <a:prstGeom prst="line">
              <a:avLst/>
            </a:prstGeom>
            <a:ln cap="flat" w="4549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TextBox 19" id="19"/>
            <p:cNvSpPr txBox="true"/>
            <p:nvPr/>
          </p:nvSpPr>
          <p:spPr>
            <a:xfrm rot="0">
              <a:off x="3250389" y="2991610"/>
              <a:ext cx="5342227" cy="733492"/>
            </a:xfrm>
            <a:prstGeom prst="rect">
              <a:avLst/>
            </a:prstGeom>
          </p:spPr>
          <p:txBody>
            <a:bodyPr anchor="t" rtlCol="false" tIns="0" lIns="0" bIns="0" rIns="0">
              <a:spAutoFit/>
            </a:bodyPr>
            <a:lstStyle/>
            <a:p>
              <a:pPr algn="ctr">
                <a:lnSpc>
                  <a:spcPts val="4637"/>
                </a:lnSpc>
              </a:pPr>
              <a:r>
                <a:rPr lang="en-US" b="true" sz="3312" i="true">
                  <a:solidFill>
                    <a:srgbClr val="39352C"/>
                  </a:solidFill>
                  <a:latin typeface="Cerebri Bold Italics"/>
                  <a:ea typeface="Cerebri Bold Italics"/>
                  <a:cs typeface="Cerebri Bold Italics"/>
                  <a:sym typeface="Cerebri Bold Italics"/>
                </a:rPr>
                <a:t>Total Huruf Asli</a:t>
              </a:r>
            </a:p>
          </p:txBody>
        </p:sp>
        <p:sp>
          <p:nvSpPr>
            <p:cNvPr name="TextBox 20" id="20"/>
            <p:cNvSpPr txBox="true"/>
            <p:nvPr/>
          </p:nvSpPr>
          <p:spPr>
            <a:xfrm rot="0">
              <a:off x="8762571" y="2294385"/>
              <a:ext cx="1903482" cy="666870"/>
            </a:xfrm>
            <a:prstGeom prst="rect">
              <a:avLst/>
            </a:prstGeom>
          </p:spPr>
          <p:txBody>
            <a:bodyPr anchor="t" rtlCol="false" tIns="0" lIns="0" bIns="0" rIns="0">
              <a:spAutoFit/>
            </a:bodyPr>
            <a:lstStyle/>
            <a:p>
              <a:pPr algn="just">
                <a:lnSpc>
                  <a:spcPts val="4278"/>
                </a:lnSpc>
              </a:pPr>
              <a:r>
                <a:rPr lang="en-US" b="true" sz="3055" i="true">
                  <a:solidFill>
                    <a:srgbClr val="39352C"/>
                  </a:solidFill>
                  <a:latin typeface="Cerebri Bold Italics"/>
                  <a:ea typeface="Cerebri Bold Italics"/>
                  <a:cs typeface="Cerebri Bold Italics"/>
                  <a:sym typeface="Cerebri Bold Italics"/>
                </a:rPr>
                <a:t>X 100%</a:t>
              </a:r>
            </a:p>
          </p:txBody>
        </p:sp>
      </p:grpSp>
      <p:sp>
        <p:nvSpPr>
          <p:cNvPr name="TextBox 21" id="21"/>
          <p:cNvSpPr txBox="true"/>
          <p:nvPr/>
        </p:nvSpPr>
        <p:spPr>
          <a:xfrm rot="0">
            <a:off x="4932770" y="1100668"/>
            <a:ext cx="8422459" cy="953135"/>
          </a:xfrm>
          <a:prstGeom prst="rect">
            <a:avLst/>
          </a:prstGeom>
        </p:spPr>
        <p:txBody>
          <a:bodyPr anchor="t" rtlCol="false" tIns="0" lIns="0" bIns="0" rIns="0">
            <a:spAutoFit/>
          </a:bodyPr>
          <a:lstStyle/>
          <a:p>
            <a:pPr algn="ctr">
              <a:lnSpc>
                <a:spcPts val="7840"/>
              </a:lnSpc>
              <a:spcBef>
                <a:spcPct val="0"/>
              </a:spcBef>
            </a:pPr>
            <a:r>
              <a:rPr lang="en-US" b="true" sz="5600">
                <a:solidFill>
                  <a:srgbClr val="0054C5"/>
                </a:solidFill>
                <a:latin typeface="Cerebri Bold"/>
                <a:ea typeface="Cerebri Bold"/>
                <a:cs typeface="Cerebri Bold"/>
                <a:sym typeface="Cerebri Bold"/>
              </a:rPr>
              <a:t>Dasar Teori</a:t>
            </a:r>
          </a:p>
        </p:txBody>
      </p:sp>
      <p:sp>
        <p:nvSpPr>
          <p:cNvPr name="TextBox 22" id="22"/>
          <p:cNvSpPr txBox="true"/>
          <p:nvPr/>
        </p:nvSpPr>
        <p:spPr>
          <a:xfrm rot="0">
            <a:off x="9495424" y="3180257"/>
            <a:ext cx="7719612" cy="5273675"/>
          </a:xfrm>
          <a:prstGeom prst="rect">
            <a:avLst/>
          </a:prstGeom>
        </p:spPr>
        <p:txBody>
          <a:bodyPr anchor="t" rtlCol="false" tIns="0" lIns="0" bIns="0" rIns="0">
            <a:spAutoFit/>
          </a:bodyPr>
          <a:lstStyle/>
          <a:p>
            <a:pPr algn="just">
              <a:lnSpc>
                <a:spcPts val="2799"/>
              </a:lnSpc>
            </a:pPr>
            <a:r>
              <a:rPr lang="en-US" b="true" sz="1999" i="true">
                <a:solidFill>
                  <a:srgbClr val="39352C"/>
                </a:solidFill>
                <a:latin typeface="Cerebri Bold Italics"/>
                <a:ea typeface="Cerebri Bold Italics"/>
                <a:cs typeface="Cerebri Bold Italics"/>
                <a:sym typeface="Cerebri Bold Italics"/>
              </a:rPr>
              <a:t>Character Error Rate</a:t>
            </a:r>
            <a:r>
              <a:rPr lang="en-US" sz="1999">
                <a:solidFill>
                  <a:srgbClr val="39352C"/>
                </a:solidFill>
                <a:latin typeface="Cerebri"/>
                <a:ea typeface="Cerebri"/>
                <a:cs typeface="Cerebri"/>
                <a:sym typeface="Cerebri"/>
              </a:rPr>
              <a:t> (CER) mengukur edit distance pada level kar</a:t>
            </a:r>
            <a:r>
              <a:rPr lang="en-US" sz="1999">
                <a:solidFill>
                  <a:srgbClr val="39352C"/>
                </a:solidFill>
                <a:latin typeface="Cerebri"/>
                <a:ea typeface="Cerebri"/>
                <a:cs typeface="Cerebri"/>
                <a:sym typeface="Cerebri"/>
              </a:rPr>
              <a:t>akter, dihitung dengan formula yang sama dengan WER tetapi op</a:t>
            </a:r>
            <a:r>
              <a:rPr lang="en-US" sz="1999">
                <a:solidFill>
                  <a:srgbClr val="39352C"/>
                </a:solidFill>
                <a:latin typeface="Cerebri"/>
                <a:ea typeface="Cerebri"/>
                <a:cs typeface="Cerebri"/>
                <a:sym typeface="Cerebri"/>
              </a:rPr>
              <a:t>erasi substitusi, penghapusan, dan penyisipan diterapkan pada karakter individual.</a:t>
            </a:r>
          </a:p>
          <a:p>
            <a:pPr algn="just">
              <a:lnSpc>
                <a:spcPts val="2799"/>
              </a:lnSpc>
            </a:pPr>
          </a:p>
          <a:p>
            <a:pPr algn="just">
              <a:lnSpc>
                <a:spcPts val="2799"/>
              </a:lnSpc>
            </a:pPr>
            <a:r>
              <a:rPr lang="en-US" sz="1999">
                <a:solidFill>
                  <a:srgbClr val="39352C"/>
                </a:solidFill>
                <a:latin typeface="Cerebri"/>
                <a:ea typeface="Cerebri"/>
                <a:cs typeface="Cerebri"/>
                <a:sym typeface="Cerebri"/>
              </a:rPr>
              <a:t>CER lebih detail dan “pemaaf” terhadap kesalahan fonetik dan memberikan perspektif komplementer terhadap WER, terutama untuk bahasa dengan sistem penulisan yang kompleks atau ketika kesalahan parsial dalam kata perlu dipertimbangkan.</a:t>
            </a:r>
          </a:p>
          <a:p>
            <a:pPr algn="just">
              <a:lnSpc>
                <a:spcPts val="2799"/>
              </a:lnSpc>
            </a:pPr>
          </a:p>
          <a:p>
            <a:pPr algn="just">
              <a:lnSpc>
                <a:spcPts val="2799"/>
              </a:lnSpc>
            </a:pPr>
            <a:r>
              <a:rPr lang="en-US" sz="1999" b="true">
                <a:solidFill>
                  <a:srgbClr val="39352C"/>
                </a:solidFill>
                <a:latin typeface="Cerebri Bold"/>
                <a:ea typeface="Cerebri Bold"/>
                <a:cs typeface="Cerebri Bold"/>
                <a:sym typeface="Cerebri Bold"/>
              </a:rPr>
              <a:t>Contoh</a:t>
            </a:r>
            <a:r>
              <a:rPr lang="en-US" sz="1999">
                <a:solidFill>
                  <a:srgbClr val="39352C"/>
                </a:solidFill>
                <a:latin typeface="Cerebri"/>
                <a:ea typeface="Cerebri"/>
                <a:cs typeface="Cerebri"/>
                <a:sym typeface="Cerebri"/>
              </a:rPr>
              <a:t>: Kata 'Siapa' vs 'Siapo'. Jika model memprediksi 'Siapa', WER akan menganggapnya salah total. Tapi CER akan menunjukkan angka error yang sangat kecil, yang artinya model sebenarnya sudah cerdas karena mengenali struktur katanya, hanya belum sempurna pada dialek akhiran 'o'</a:t>
            </a:r>
          </a:p>
        </p:txBody>
      </p:sp>
      <p:grpSp>
        <p:nvGrpSpPr>
          <p:cNvPr name="Group 23" id="23"/>
          <p:cNvGrpSpPr/>
          <p:nvPr/>
        </p:nvGrpSpPr>
        <p:grpSpPr>
          <a:xfrm rot="0">
            <a:off x="7616365" y="28114"/>
            <a:ext cx="3055270" cy="1205443"/>
            <a:chOff x="0" y="0"/>
            <a:chExt cx="4073693" cy="1607257"/>
          </a:xfrm>
        </p:grpSpPr>
        <p:sp>
          <p:nvSpPr>
            <p:cNvPr name="Freeform 24" id="24"/>
            <p:cNvSpPr/>
            <p:nvPr/>
          </p:nvSpPr>
          <p:spPr>
            <a:xfrm flipH="false" flipV="false" rot="0">
              <a:off x="0" y="0"/>
              <a:ext cx="4073693" cy="1607257"/>
            </a:xfrm>
            <a:custGeom>
              <a:avLst/>
              <a:gdLst/>
              <a:ahLst/>
              <a:cxnLst/>
              <a:rect r="r" b="b" t="t" l="l"/>
              <a:pathLst>
                <a:path h="1607257" w="4073693">
                  <a:moveTo>
                    <a:pt x="0" y="0"/>
                  </a:moveTo>
                  <a:lnTo>
                    <a:pt x="4073693" y="0"/>
                  </a:lnTo>
                  <a:lnTo>
                    <a:pt x="4073693" y="1607257"/>
                  </a:lnTo>
                  <a:lnTo>
                    <a:pt x="0" y="1607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278205"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6"/>
              <a:stretch>
                <a:fillRect l="0" t="0" r="0" b="0"/>
              </a:stretch>
            </a:blipFill>
          </p:spPr>
        </p:sp>
        <p:sp>
          <p:nvSpPr>
            <p:cNvPr name="Freeform 26" id="26"/>
            <p:cNvSpPr/>
            <p:nvPr/>
          </p:nvSpPr>
          <p:spPr>
            <a:xfrm flipH="false" flipV="false" rot="0">
              <a:off x="2036847"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7"/>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false" rot="0">
            <a:off x="-4274147" y="-4132490"/>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7279364" y="6775943"/>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3"/>
            <a:stretch>
              <a:fillRect l="0" t="0" r="0" b="0"/>
            </a:stretch>
          </a:blipFill>
        </p:spPr>
      </p:sp>
      <p:sp>
        <p:nvSpPr>
          <p:cNvPr name="AutoShape 4" id="4"/>
          <p:cNvSpPr/>
          <p:nvPr/>
        </p:nvSpPr>
        <p:spPr>
          <a:xfrm>
            <a:off x="4127053" y="630835"/>
            <a:ext cx="10436442" cy="0"/>
          </a:xfrm>
          <a:prstGeom prst="line">
            <a:avLst/>
          </a:prstGeom>
          <a:ln cap="flat" w="19050">
            <a:solidFill>
              <a:srgbClr val="39352C"/>
            </a:solidFill>
            <a:prstDash val="solid"/>
            <a:headEnd type="none" len="sm" w="sm"/>
            <a:tailEnd type="none" len="sm" w="sm"/>
          </a:ln>
        </p:spPr>
      </p:sp>
      <p:grpSp>
        <p:nvGrpSpPr>
          <p:cNvPr name="Group 5" id="5"/>
          <p:cNvGrpSpPr/>
          <p:nvPr/>
        </p:nvGrpSpPr>
        <p:grpSpPr>
          <a:xfrm rot="0">
            <a:off x="7616365" y="-17690"/>
            <a:ext cx="3055270" cy="1205443"/>
            <a:chOff x="0" y="0"/>
            <a:chExt cx="4073693" cy="1607257"/>
          </a:xfrm>
        </p:grpSpPr>
        <p:sp>
          <p:nvSpPr>
            <p:cNvPr name="Freeform 6" id="6"/>
            <p:cNvSpPr/>
            <p:nvPr/>
          </p:nvSpPr>
          <p:spPr>
            <a:xfrm flipH="false" flipV="false" rot="0">
              <a:off x="0" y="0"/>
              <a:ext cx="4073693" cy="1607257"/>
            </a:xfrm>
            <a:custGeom>
              <a:avLst/>
              <a:gdLst/>
              <a:ahLst/>
              <a:cxnLst/>
              <a:rect r="r" b="b" t="t" l="l"/>
              <a:pathLst>
                <a:path h="1607257" w="4073693">
                  <a:moveTo>
                    <a:pt x="0" y="0"/>
                  </a:moveTo>
                  <a:lnTo>
                    <a:pt x="4073693" y="0"/>
                  </a:lnTo>
                  <a:lnTo>
                    <a:pt x="4073693" y="1607257"/>
                  </a:lnTo>
                  <a:lnTo>
                    <a:pt x="0" y="1607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78205"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6"/>
              <a:stretch>
                <a:fillRect l="0" t="0" r="0" b="0"/>
              </a:stretch>
            </a:blipFill>
          </p:spPr>
        </p:sp>
        <p:sp>
          <p:nvSpPr>
            <p:cNvPr name="Freeform 8" id="8"/>
            <p:cNvSpPr/>
            <p:nvPr/>
          </p:nvSpPr>
          <p:spPr>
            <a:xfrm flipH="false" flipV="false" rot="0">
              <a:off x="2036847"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7"/>
              <a:stretch>
                <a:fillRect l="0" t="0" r="0" b="0"/>
              </a:stretch>
            </a:blipFill>
          </p:spPr>
        </p:sp>
      </p:grpSp>
      <p:grpSp>
        <p:nvGrpSpPr>
          <p:cNvPr name="Group 9" id="9"/>
          <p:cNvGrpSpPr/>
          <p:nvPr/>
        </p:nvGrpSpPr>
        <p:grpSpPr>
          <a:xfrm rot="0">
            <a:off x="5232400" y="1832307"/>
            <a:ext cx="7823200" cy="8320379"/>
            <a:chOff x="0" y="0"/>
            <a:chExt cx="1150479" cy="1223594"/>
          </a:xfrm>
        </p:grpSpPr>
        <p:sp>
          <p:nvSpPr>
            <p:cNvPr name="Freeform 10" id="10"/>
            <p:cNvSpPr/>
            <p:nvPr/>
          </p:nvSpPr>
          <p:spPr>
            <a:xfrm flipH="false" flipV="false" rot="0">
              <a:off x="0" y="0"/>
              <a:ext cx="1150479" cy="1223594"/>
            </a:xfrm>
            <a:custGeom>
              <a:avLst/>
              <a:gdLst/>
              <a:ahLst/>
              <a:cxnLst/>
              <a:rect r="r" b="b" t="t" l="l"/>
              <a:pathLst>
                <a:path h="1223594" w="1150479">
                  <a:moveTo>
                    <a:pt x="20782" y="0"/>
                  </a:moveTo>
                  <a:lnTo>
                    <a:pt x="1129697" y="0"/>
                  </a:lnTo>
                  <a:cubicBezTo>
                    <a:pt x="1141175" y="0"/>
                    <a:pt x="1150479" y="9304"/>
                    <a:pt x="1150479" y="20782"/>
                  </a:cubicBezTo>
                  <a:lnTo>
                    <a:pt x="1150479" y="1202812"/>
                  </a:lnTo>
                  <a:cubicBezTo>
                    <a:pt x="1150479" y="1214290"/>
                    <a:pt x="1141175" y="1223594"/>
                    <a:pt x="1129697" y="1223594"/>
                  </a:cubicBezTo>
                  <a:lnTo>
                    <a:pt x="20782" y="1223594"/>
                  </a:lnTo>
                  <a:cubicBezTo>
                    <a:pt x="9304" y="1223594"/>
                    <a:pt x="0" y="1214290"/>
                    <a:pt x="0" y="1202812"/>
                  </a:cubicBezTo>
                  <a:lnTo>
                    <a:pt x="0" y="20782"/>
                  </a:lnTo>
                  <a:cubicBezTo>
                    <a:pt x="0" y="9304"/>
                    <a:pt x="9304" y="0"/>
                    <a:pt x="20782"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11" id="11"/>
            <p:cNvSpPr txBox="true"/>
            <p:nvPr/>
          </p:nvSpPr>
          <p:spPr>
            <a:xfrm>
              <a:off x="0" y="-38100"/>
              <a:ext cx="1150479" cy="1261694"/>
            </a:xfrm>
            <a:prstGeom prst="rect">
              <a:avLst/>
            </a:prstGeom>
          </p:spPr>
          <p:txBody>
            <a:bodyPr anchor="ctr" rtlCol="false" tIns="90979" lIns="90979" bIns="90979" rIns="90979"/>
            <a:lstStyle/>
            <a:p>
              <a:pPr algn="ctr">
                <a:lnSpc>
                  <a:spcPts val="3080"/>
                </a:lnSpc>
              </a:pPr>
            </a:p>
          </p:txBody>
        </p:sp>
      </p:grpSp>
      <p:sp>
        <p:nvSpPr>
          <p:cNvPr name="Freeform 12" id="12"/>
          <p:cNvSpPr/>
          <p:nvPr/>
        </p:nvSpPr>
        <p:spPr>
          <a:xfrm flipH="false" flipV="false" rot="0">
            <a:off x="5723370" y="1919668"/>
            <a:ext cx="6841261" cy="7943409"/>
          </a:xfrm>
          <a:custGeom>
            <a:avLst/>
            <a:gdLst/>
            <a:ahLst/>
            <a:cxnLst/>
            <a:rect r="r" b="b" t="t" l="l"/>
            <a:pathLst>
              <a:path h="7943409" w="6841261">
                <a:moveTo>
                  <a:pt x="0" y="0"/>
                </a:moveTo>
                <a:lnTo>
                  <a:pt x="6841260" y="0"/>
                </a:lnTo>
                <a:lnTo>
                  <a:pt x="6841260" y="7943409"/>
                </a:lnTo>
                <a:lnTo>
                  <a:pt x="0" y="7943409"/>
                </a:lnTo>
                <a:lnTo>
                  <a:pt x="0" y="0"/>
                </a:lnTo>
                <a:close/>
              </a:path>
            </a:pathLst>
          </a:custGeom>
          <a:blipFill>
            <a:blip r:embed="rId8"/>
            <a:stretch>
              <a:fillRect l="0" t="0" r="0" b="0"/>
            </a:stretch>
          </a:blipFill>
        </p:spPr>
      </p:sp>
      <p:sp>
        <p:nvSpPr>
          <p:cNvPr name="TextBox 13" id="13"/>
          <p:cNvSpPr txBox="true"/>
          <p:nvPr/>
        </p:nvSpPr>
        <p:spPr>
          <a:xfrm rot="0">
            <a:off x="14563495" y="441923"/>
            <a:ext cx="2695805" cy="339725"/>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14" id="14"/>
          <p:cNvSpPr txBox="true"/>
          <p:nvPr/>
        </p:nvSpPr>
        <p:spPr>
          <a:xfrm rot="0">
            <a:off x="1028700" y="441923"/>
            <a:ext cx="3098353" cy="339725"/>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
        <p:nvSpPr>
          <p:cNvPr name="TextBox 15" id="15"/>
          <p:cNvSpPr txBox="true"/>
          <p:nvPr/>
        </p:nvSpPr>
        <p:spPr>
          <a:xfrm rot="0">
            <a:off x="6051443" y="879172"/>
            <a:ext cx="6185115" cy="953135"/>
          </a:xfrm>
          <a:prstGeom prst="rect">
            <a:avLst/>
          </a:prstGeom>
        </p:spPr>
        <p:txBody>
          <a:bodyPr anchor="t" rtlCol="false" tIns="0" lIns="0" bIns="0" rIns="0">
            <a:spAutoFit/>
          </a:bodyPr>
          <a:lstStyle/>
          <a:p>
            <a:pPr algn="ctr">
              <a:lnSpc>
                <a:spcPts val="7840"/>
              </a:lnSpc>
              <a:spcBef>
                <a:spcPct val="0"/>
              </a:spcBef>
            </a:pPr>
            <a:r>
              <a:rPr lang="en-US" b="true" sz="5600">
                <a:solidFill>
                  <a:srgbClr val="0054C5"/>
                </a:solidFill>
                <a:latin typeface="Cerebri Bold"/>
                <a:ea typeface="Cerebri Bold"/>
                <a:cs typeface="Cerebri Bold"/>
                <a:sym typeface="Cerebri Bold"/>
              </a:rPr>
              <a:t>Alur Penelitian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true" flipV="false" rot="0">
            <a:off x="6487211" y="-4500942"/>
            <a:ext cx="13744635" cy="8229600"/>
          </a:xfrm>
          <a:custGeom>
            <a:avLst/>
            <a:gdLst/>
            <a:ahLst/>
            <a:cxnLst/>
            <a:rect r="r" b="b" t="t" l="l"/>
            <a:pathLst>
              <a:path h="8229600" w="13744635">
                <a:moveTo>
                  <a:pt x="13744634" y="0"/>
                </a:moveTo>
                <a:lnTo>
                  <a:pt x="0" y="0"/>
                </a:lnTo>
                <a:lnTo>
                  <a:pt x="0" y="8229600"/>
                </a:lnTo>
                <a:lnTo>
                  <a:pt x="13744634" y="8229600"/>
                </a:lnTo>
                <a:lnTo>
                  <a:pt x="13744634" y="0"/>
                </a:lnTo>
                <a:close/>
              </a:path>
            </a:pathLst>
          </a:custGeom>
          <a:blipFill>
            <a:blip r:embed="rId2"/>
            <a:stretch>
              <a:fillRect l="0" t="0" r="0" b="0"/>
            </a:stretch>
          </a:blipFill>
        </p:spPr>
      </p:sp>
      <p:sp>
        <p:nvSpPr>
          <p:cNvPr name="Freeform 3" id="3"/>
          <p:cNvSpPr/>
          <p:nvPr/>
        </p:nvSpPr>
        <p:spPr>
          <a:xfrm flipH="false" flipV="false" rot="0">
            <a:off x="-5596611" y="2793767"/>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3"/>
            <a:stretch>
              <a:fillRect l="0" t="0" r="0" b="0"/>
            </a:stretch>
          </a:blipFill>
        </p:spPr>
      </p:sp>
      <p:sp>
        <p:nvSpPr>
          <p:cNvPr name="AutoShape 4" id="4"/>
          <p:cNvSpPr/>
          <p:nvPr/>
        </p:nvSpPr>
        <p:spPr>
          <a:xfrm>
            <a:off x="4127053" y="630835"/>
            <a:ext cx="10436442" cy="0"/>
          </a:xfrm>
          <a:prstGeom prst="line">
            <a:avLst/>
          </a:prstGeom>
          <a:ln cap="flat" w="19050">
            <a:solidFill>
              <a:srgbClr val="39352C"/>
            </a:solidFill>
            <a:prstDash val="solid"/>
            <a:headEnd type="none" len="sm" w="sm"/>
            <a:tailEnd type="none" len="sm" w="sm"/>
          </a:ln>
        </p:spPr>
      </p:sp>
      <p:sp>
        <p:nvSpPr>
          <p:cNvPr name="TextBox 5" id="5"/>
          <p:cNvSpPr txBox="true"/>
          <p:nvPr/>
        </p:nvSpPr>
        <p:spPr>
          <a:xfrm rot="0">
            <a:off x="14563495" y="441923"/>
            <a:ext cx="2695805" cy="339725"/>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6" id="6"/>
          <p:cNvSpPr txBox="true"/>
          <p:nvPr/>
        </p:nvSpPr>
        <p:spPr>
          <a:xfrm rot="0">
            <a:off x="1028700" y="441923"/>
            <a:ext cx="3098353" cy="339725"/>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
        <p:nvSpPr>
          <p:cNvPr name="Freeform 7" id="7"/>
          <p:cNvSpPr/>
          <p:nvPr/>
        </p:nvSpPr>
        <p:spPr>
          <a:xfrm flipH="false" flipV="false" rot="0">
            <a:off x="7616365" y="28114"/>
            <a:ext cx="3055270" cy="1205443"/>
          </a:xfrm>
          <a:custGeom>
            <a:avLst/>
            <a:gdLst/>
            <a:ahLst/>
            <a:cxnLst/>
            <a:rect r="r" b="b" t="t" l="l"/>
            <a:pathLst>
              <a:path h="1205443" w="3055270">
                <a:moveTo>
                  <a:pt x="0" y="0"/>
                </a:moveTo>
                <a:lnTo>
                  <a:pt x="3055270" y="0"/>
                </a:lnTo>
                <a:lnTo>
                  <a:pt x="3055270" y="1205443"/>
                </a:lnTo>
                <a:lnTo>
                  <a:pt x="0" y="1205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575019" y="444090"/>
            <a:ext cx="501619" cy="501619"/>
          </a:xfrm>
          <a:custGeom>
            <a:avLst/>
            <a:gdLst/>
            <a:ahLst/>
            <a:cxnLst/>
            <a:rect r="r" b="b" t="t" l="l"/>
            <a:pathLst>
              <a:path h="501619" w="501619">
                <a:moveTo>
                  <a:pt x="0" y="0"/>
                </a:moveTo>
                <a:lnTo>
                  <a:pt x="501619" y="0"/>
                </a:lnTo>
                <a:lnTo>
                  <a:pt x="501619" y="501620"/>
                </a:lnTo>
                <a:lnTo>
                  <a:pt x="0" y="501620"/>
                </a:lnTo>
                <a:lnTo>
                  <a:pt x="0" y="0"/>
                </a:lnTo>
                <a:close/>
              </a:path>
            </a:pathLst>
          </a:custGeom>
          <a:blipFill>
            <a:blip r:embed="rId6"/>
            <a:stretch>
              <a:fillRect l="0" t="0" r="0" b="0"/>
            </a:stretch>
          </a:blipFill>
        </p:spPr>
      </p:sp>
      <p:sp>
        <p:nvSpPr>
          <p:cNvPr name="Freeform 9" id="9"/>
          <p:cNvSpPr/>
          <p:nvPr/>
        </p:nvSpPr>
        <p:spPr>
          <a:xfrm flipH="false" flipV="false" rot="0">
            <a:off x="9144000" y="444090"/>
            <a:ext cx="501619" cy="501619"/>
          </a:xfrm>
          <a:custGeom>
            <a:avLst/>
            <a:gdLst/>
            <a:ahLst/>
            <a:cxnLst/>
            <a:rect r="r" b="b" t="t" l="l"/>
            <a:pathLst>
              <a:path h="501619" w="501619">
                <a:moveTo>
                  <a:pt x="0" y="0"/>
                </a:moveTo>
                <a:lnTo>
                  <a:pt x="501619" y="0"/>
                </a:lnTo>
                <a:lnTo>
                  <a:pt x="501619" y="501620"/>
                </a:lnTo>
                <a:lnTo>
                  <a:pt x="0" y="501620"/>
                </a:lnTo>
                <a:lnTo>
                  <a:pt x="0" y="0"/>
                </a:lnTo>
                <a:close/>
              </a:path>
            </a:pathLst>
          </a:custGeom>
          <a:blipFill>
            <a:blip r:embed="rId7"/>
            <a:stretch>
              <a:fillRect l="0" t="0" r="0" b="0"/>
            </a:stretch>
          </a:blipFill>
        </p:spPr>
      </p:sp>
      <p:graphicFrame>
        <p:nvGraphicFramePr>
          <p:cNvPr name="Object 10" id="10"/>
          <p:cNvGraphicFramePr/>
          <p:nvPr/>
        </p:nvGraphicFramePr>
        <p:xfrm>
          <a:off x="1028700" y="2947934"/>
          <a:ext cx="3771900" cy="2514600"/>
        </p:xfrm>
        <a:graphic>
          <a:graphicData uri="http://schemas.openxmlformats.org/presentationml/2006/ole">
            <p:oleObj imgW="4521200" imgH="32639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11" id="11"/>
          <p:cNvSpPr txBox="true"/>
          <p:nvPr/>
        </p:nvSpPr>
        <p:spPr>
          <a:xfrm rot="0">
            <a:off x="1028700" y="1547124"/>
            <a:ext cx="5655337" cy="953135"/>
          </a:xfrm>
          <a:prstGeom prst="rect">
            <a:avLst/>
          </a:prstGeom>
        </p:spPr>
        <p:txBody>
          <a:bodyPr anchor="t" rtlCol="false" tIns="0" lIns="0" bIns="0" rIns="0">
            <a:spAutoFit/>
          </a:bodyPr>
          <a:lstStyle/>
          <a:p>
            <a:pPr algn="l">
              <a:lnSpc>
                <a:spcPts val="7840"/>
              </a:lnSpc>
              <a:spcBef>
                <a:spcPct val="0"/>
              </a:spcBef>
            </a:pPr>
            <a:r>
              <a:rPr lang="en-US" b="true" sz="5600">
                <a:solidFill>
                  <a:srgbClr val="0054C5"/>
                </a:solidFill>
                <a:latin typeface="Cerebri Bold"/>
                <a:ea typeface="Cerebri Bold"/>
                <a:cs typeface="Cerebri Bold"/>
                <a:sym typeface="Cerebri Bold"/>
              </a:rPr>
              <a:t>Contoh Dataset</a:t>
            </a:r>
          </a:p>
        </p:txBody>
      </p:sp>
    </p:spTree>
  </p:cSld>
  <p:clrMapOvr>
    <a:masterClrMapping/>
  </p:clrMapOvr>
  <p:transition spd="slow">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true" flipV="false" rot="0">
            <a:off x="3176005" y="-4699356"/>
            <a:ext cx="13744635" cy="8229600"/>
          </a:xfrm>
          <a:custGeom>
            <a:avLst/>
            <a:gdLst/>
            <a:ahLst/>
            <a:cxnLst/>
            <a:rect r="r" b="b" t="t" l="l"/>
            <a:pathLst>
              <a:path h="8229600" w="13744635">
                <a:moveTo>
                  <a:pt x="13744635" y="0"/>
                </a:moveTo>
                <a:lnTo>
                  <a:pt x="0" y="0"/>
                </a:lnTo>
                <a:lnTo>
                  <a:pt x="0" y="8229600"/>
                </a:lnTo>
                <a:lnTo>
                  <a:pt x="13744635" y="8229600"/>
                </a:lnTo>
                <a:lnTo>
                  <a:pt x="13744635" y="0"/>
                </a:lnTo>
                <a:close/>
              </a:path>
            </a:pathLst>
          </a:custGeom>
          <a:blipFill>
            <a:blip r:embed="rId2"/>
            <a:stretch>
              <a:fillRect l="0" t="0" r="0" b="0"/>
            </a:stretch>
          </a:blipFill>
        </p:spPr>
      </p:sp>
      <p:sp>
        <p:nvSpPr>
          <p:cNvPr name="Freeform 3" id="3"/>
          <p:cNvSpPr/>
          <p:nvPr/>
        </p:nvSpPr>
        <p:spPr>
          <a:xfrm flipH="false" flipV="false" rot="0">
            <a:off x="14332487" y="5364528"/>
            <a:ext cx="9648774" cy="8229600"/>
          </a:xfrm>
          <a:custGeom>
            <a:avLst/>
            <a:gdLst/>
            <a:ahLst/>
            <a:cxnLst/>
            <a:rect r="r" b="b" t="t" l="l"/>
            <a:pathLst>
              <a:path h="8229600" w="9648774">
                <a:moveTo>
                  <a:pt x="0" y="0"/>
                </a:moveTo>
                <a:lnTo>
                  <a:pt x="9648773" y="0"/>
                </a:lnTo>
                <a:lnTo>
                  <a:pt x="9648773"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6801909" y="5914463"/>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3"/>
            <a:stretch>
              <a:fillRect l="0" t="0" r="0" b="0"/>
            </a:stretch>
          </a:blipFill>
        </p:spPr>
      </p:sp>
      <p:sp>
        <p:nvSpPr>
          <p:cNvPr name="TextBox 5" id="5"/>
          <p:cNvSpPr txBox="true"/>
          <p:nvPr/>
        </p:nvSpPr>
        <p:spPr>
          <a:xfrm rot="0">
            <a:off x="1028700" y="923925"/>
            <a:ext cx="5797281" cy="1943735"/>
          </a:xfrm>
          <a:prstGeom prst="rect">
            <a:avLst/>
          </a:prstGeom>
        </p:spPr>
        <p:txBody>
          <a:bodyPr anchor="t" rtlCol="false" tIns="0" lIns="0" bIns="0" rIns="0">
            <a:spAutoFit/>
          </a:bodyPr>
          <a:lstStyle/>
          <a:p>
            <a:pPr algn="l">
              <a:lnSpc>
                <a:spcPts val="7840"/>
              </a:lnSpc>
              <a:spcBef>
                <a:spcPct val="0"/>
              </a:spcBef>
            </a:pPr>
            <a:r>
              <a:rPr lang="en-US" b="true" sz="5600">
                <a:solidFill>
                  <a:srgbClr val="0054C5"/>
                </a:solidFill>
                <a:latin typeface="Cerebri Bold"/>
                <a:ea typeface="Cerebri Bold"/>
                <a:cs typeface="Cerebri Bold"/>
                <a:sym typeface="Cerebri Bold"/>
              </a:rPr>
              <a:t>Prapemrosesan Dataset</a:t>
            </a:r>
          </a:p>
        </p:txBody>
      </p:sp>
      <p:sp>
        <p:nvSpPr>
          <p:cNvPr name="AutoShape 6" id="6"/>
          <p:cNvSpPr/>
          <p:nvPr/>
        </p:nvSpPr>
        <p:spPr>
          <a:xfrm>
            <a:off x="4127053" y="630835"/>
            <a:ext cx="10436442" cy="0"/>
          </a:xfrm>
          <a:prstGeom prst="line">
            <a:avLst/>
          </a:prstGeom>
          <a:ln cap="flat" w="19050">
            <a:solidFill>
              <a:srgbClr val="39352C"/>
            </a:solidFill>
            <a:prstDash val="solid"/>
            <a:headEnd type="none" len="sm" w="sm"/>
            <a:tailEnd type="none" len="sm" w="sm"/>
          </a:ln>
        </p:spPr>
      </p:sp>
      <p:sp>
        <p:nvSpPr>
          <p:cNvPr name="TextBox 7" id="7"/>
          <p:cNvSpPr txBox="true"/>
          <p:nvPr/>
        </p:nvSpPr>
        <p:spPr>
          <a:xfrm rot="0">
            <a:off x="14563495" y="441923"/>
            <a:ext cx="2695805" cy="339725"/>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8" id="8"/>
          <p:cNvSpPr txBox="true"/>
          <p:nvPr/>
        </p:nvSpPr>
        <p:spPr>
          <a:xfrm rot="0">
            <a:off x="1028700" y="441923"/>
            <a:ext cx="3098353" cy="339725"/>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
        <p:nvSpPr>
          <p:cNvPr name="Freeform 9" id="9"/>
          <p:cNvSpPr/>
          <p:nvPr/>
        </p:nvSpPr>
        <p:spPr>
          <a:xfrm flipH="false" flipV="false" rot="0">
            <a:off x="7616365" y="28114"/>
            <a:ext cx="3055270" cy="1205443"/>
          </a:xfrm>
          <a:custGeom>
            <a:avLst/>
            <a:gdLst/>
            <a:ahLst/>
            <a:cxnLst/>
            <a:rect r="r" b="b" t="t" l="l"/>
            <a:pathLst>
              <a:path h="1205443" w="3055270">
                <a:moveTo>
                  <a:pt x="0" y="0"/>
                </a:moveTo>
                <a:lnTo>
                  <a:pt x="3055270" y="0"/>
                </a:lnTo>
                <a:lnTo>
                  <a:pt x="3055270" y="1205443"/>
                </a:lnTo>
                <a:lnTo>
                  <a:pt x="0" y="1205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575019" y="444090"/>
            <a:ext cx="501619" cy="501619"/>
          </a:xfrm>
          <a:custGeom>
            <a:avLst/>
            <a:gdLst/>
            <a:ahLst/>
            <a:cxnLst/>
            <a:rect r="r" b="b" t="t" l="l"/>
            <a:pathLst>
              <a:path h="501619" w="501619">
                <a:moveTo>
                  <a:pt x="0" y="0"/>
                </a:moveTo>
                <a:lnTo>
                  <a:pt x="501619" y="0"/>
                </a:lnTo>
                <a:lnTo>
                  <a:pt x="501619" y="501620"/>
                </a:lnTo>
                <a:lnTo>
                  <a:pt x="0" y="501620"/>
                </a:lnTo>
                <a:lnTo>
                  <a:pt x="0" y="0"/>
                </a:lnTo>
                <a:close/>
              </a:path>
            </a:pathLst>
          </a:custGeom>
          <a:blipFill>
            <a:blip r:embed="rId6"/>
            <a:stretch>
              <a:fillRect l="0" t="0" r="0" b="0"/>
            </a:stretch>
          </a:blipFill>
        </p:spPr>
      </p:sp>
      <p:sp>
        <p:nvSpPr>
          <p:cNvPr name="Freeform 11" id="11"/>
          <p:cNvSpPr/>
          <p:nvPr/>
        </p:nvSpPr>
        <p:spPr>
          <a:xfrm flipH="false" flipV="false" rot="0">
            <a:off x="9144000" y="444090"/>
            <a:ext cx="501619" cy="501619"/>
          </a:xfrm>
          <a:custGeom>
            <a:avLst/>
            <a:gdLst/>
            <a:ahLst/>
            <a:cxnLst/>
            <a:rect r="r" b="b" t="t" l="l"/>
            <a:pathLst>
              <a:path h="501619" w="501619">
                <a:moveTo>
                  <a:pt x="0" y="0"/>
                </a:moveTo>
                <a:lnTo>
                  <a:pt x="501619" y="0"/>
                </a:lnTo>
                <a:lnTo>
                  <a:pt x="501619" y="501620"/>
                </a:lnTo>
                <a:lnTo>
                  <a:pt x="0" y="501620"/>
                </a:lnTo>
                <a:lnTo>
                  <a:pt x="0" y="0"/>
                </a:lnTo>
                <a:close/>
              </a:path>
            </a:pathLst>
          </a:custGeom>
          <a:blipFill>
            <a:blip r:embed="rId7"/>
            <a:stretch>
              <a:fillRect l="0" t="0" r="0" b="0"/>
            </a:stretch>
          </a:blipFill>
        </p:spPr>
      </p:sp>
      <p:sp>
        <p:nvSpPr>
          <p:cNvPr name="Freeform 12" id="12"/>
          <p:cNvSpPr/>
          <p:nvPr/>
        </p:nvSpPr>
        <p:spPr>
          <a:xfrm flipH="false" flipV="false" rot="0">
            <a:off x="184628" y="4335374"/>
            <a:ext cx="17918744" cy="3158179"/>
          </a:xfrm>
          <a:custGeom>
            <a:avLst/>
            <a:gdLst/>
            <a:ahLst/>
            <a:cxnLst/>
            <a:rect r="r" b="b" t="t" l="l"/>
            <a:pathLst>
              <a:path h="3158179" w="17918744">
                <a:moveTo>
                  <a:pt x="0" y="0"/>
                </a:moveTo>
                <a:lnTo>
                  <a:pt x="17918744" y="0"/>
                </a:lnTo>
                <a:lnTo>
                  <a:pt x="17918744" y="3158179"/>
                </a:lnTo>
                <a:lnTo>
                  <a:pt x="0" y="3158179"/>
                </a:lnTo>
                <a:lnTo>
                  <a:pt x="0" y="0"/>
                </a:lnTo>
                <a:close/>
              </a:path>
            </a:pathLst>
          </a:custGeom>
          <a:blipFill>
            <a:blip r:embed="rId8"/>
            <a:stretch>
              <a:fillRect l="0" t="0" r="0" b="0"/>
            </a:stretch>
          </a:blipFill>
        </p:spPr>
      </p:sp>
    </p:spTree>
  </p:cSld>
  <p:clrMapOvr>
    <a:masterClrMapping/>
  </p:clrMapOvr>
  <p:transition spd="slow">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true" flipV="false" rot="0">
            <a:off x="3176005" y="-4699356"/>
            <a:ext cx="13744635" cy="8229600"/>
          </a:xfrm>
          <a:custGeom>
            <a:avLst/>
            <a:gdLst/>
            <a:ahLst/>
            <a:cxnLst/>
            <a:rect r="r" b="b" t="t" l="l"/>
            <a:pathLst>
              <a:path h="8229600" w="13744635">
                <a:moveTo>
                  <a:pt x="13744635" y="0"/>
                </a:moveTo>
                <a:lnTo>
                  <a:pt x="0" y="0"/>
                </a:lnTo>
                <a:lnTo>
                  <a:pt x="0" y="8229600"/>
                </a:lnTo>
                <a:lnTo>
                  <a:pt x="13744635" y="8229600"/>
                </a:lnTo>
                <a:lnTo>
                  <a:pt x="13744635" y="0"/>
                </a:lnTo>
                <a:close/>
              </a:path>
            </a:pathLst>
          </a:custGeom>
          <a:blipFill>
            <a:blip r:embed="rId2"/>
            <a:stretch>
              <a:fillRect l="0" t="0" r="0" b="0"/>
            </a:stretch>
          </a:blipFill>
        </p:spPr>
      </p:sp>
      <p:sp>
        <p:nvSpPr>
          <p:cNvPr name="Freeform 3" id="3"/>
          <p:cNvSpPr/>
          <p:nvPr/>
        </p:nvSpPr>
        <p:spPr>
          <a:xfrm flipH="false" flipV="false" rot="0">
            <a:off x="14332487" y="5364528"/>
            <a:ext cx="9648774" cy="8229600"/>
          </a:xfrm>
          <a:custGeom>
            <a:avLst/>
            <a:gdLst/>
            <a:ahLst/>
            <a:cxnLst/>
            <a:rect r="r" b="b" t="t" l="l"/>
            <a:pathLst>
              <a:path h="8229600" w="9648774">
                <a:moveTo>
                  <a:pt x="0" y="0"/>
                </a:moveTo>
                <a:lnTo>
                  <a:pt x="9648773" y="0"/>
                </a:lnTo>
                <a:lnTo>
                  <a:pt x="9648773"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6801909" y="5914463"/>
            <a:ext cx="9648774" cy="8229600"/>
          </a:xfrm>
          <a:custGeom>
            <a:avLst/>
            <a:gdLst/>
            <a:ahLst/>
            <a:cxnLst/>
            <a:rect r="r" b="b" t="t" l="l"/>
            <a:pathLst>
              <a:path h="8229600" w="9648774">
                <a:moveTo>
                  <a:pt x="0" y="0"/>
                </a:moveTo>
                <a:lnTo>
                  <a:pt x="9648774" y="0"/>
                </a:lnTo>
                <a:lnTo>
                  <a:pt x="9648774" y="8229600"/>
                </a:lnTo>
                <a:lnTo>
                  <a:pt x="0" y="8229600"/>
                </a:lnTo>
                <a:lnTo>
                  <a:pt x="0" y="0"/>
                </a:lnTo>
                <a:close/>
              </a:path>
            </a:pathLst>
          </a:custGeom>
          <a:blipFill>
            <a:blip r:embed="rId3"/>
            <a:stretch>
              <a:fillRect l="0" t="0" r="0" b="0"/>
            </a:stretch>
          </a:blipFill>
        </p:spPr>
      </p:sp>
      <p:sp>
        <p:nvSpPr>
          <p:cNvPr name="TextBox 5" id="5"/>
          <p:cNvSpPr txBox="true"/>
          <p:nvPr/>
        </p:nvSpPr>
        <p:spPr>
          <a:xfrm rot="0">
            <a:off x="4403860" y="923925"/>
            <a:ext cx="9480281" cy="953135"/>
          </a:xfrm>
          <a:prstGeom prst="rect">
            <a:avLst/>
          </a:prstGeom>
        </p:spPr>
        <p:txBody>
          <a:bodyPr anchor="t" rtlCol="false" tIns="0" lIns="0" bIns="0" rIns="0">
            <a:spAutoFit/>
          </a:bodyPr>
          <a:lstStyle/>
          <a:p>
            <a:pPr algn="ctr">
              <a:lnSpc>
                <a:spcPts val="7840"/>
              </a:lnSpc>
              <a:spcBef>
                <a:spcPct val="0"/>
              </a:spcBef>
            </a:pPr>
            <a:r>
              <a:rPr lang="en-US" b="true" sz="5600">
                <a:solidFill>
                  <a:srgbClr val="0054C5"/>
                </a:solidFill>
                <a:latin typeface="Cerebri Bold"/>
                <a:ea typeface="Cerebri Bold"/>
                <a:cs typeface="Cerebri Bold"/>
                <a:sym typeface="Cerebri Bold"/>
              </a:rPr>
              <a:t>Alur Pengembangan Model</a:t>
            </a:r>
          </a:p>
        </p:txBody>
      </p:sp>
      <p:sp>
        <p:nvSpPr>
          <p:cNvPr name="AutoShape 6" id="6"/>
          <p:cNvSpPr/>
          <p:nvPr/>
        </p:nvSpPr>
        <p:spPr>
          <a:xfrm>
            <a:off x="4127053" y="630835"/>
            <a:ext cx="10436442" cy="0"/>
          </a:xfrm>
          <a:prstGeom prst="line">
            <a:avLst/>
          </a:prstGeom>
          <a:ln cap="flat" w="19050">
            <a:solidFill>
              <a:srgbClr val="39352C"/>
            </a:solidFill>
            <a:prstDash val="solid"/>
            <a:headEnd type="none" len="sm" w="sm"/>
            <a:tailEnd type="none" len="sm" w="sm"/>
          </a:ln>
        </p:spPr>
      </p:sp>
      <p:sp>
        <p:nvSpPr>
          <p:cNvPr name="Freeform 7" id="7"/>
          <p:cNvSpPr/>
          <p:nvPr/>
        </p:nvSpPr>
        <p:spPr>
          <a:xfrm flipH="false" flipV="false" rot="0">
            <a:off x="7616365" y="28114"/>
            <a:ext cx="3055270" cy="1205443"/>
          </a:xfrm>
          <a:custGeom>
            <a:avLst/>
            <a:gdLst/>
            <a:ahLst/>
            <a:cxnLst/>
            <a:rect r="r" b="b" t="t" l="l"/>
            <a:pathLst>
              <a:path h="1205443" w="3055270">
                <a:moveTo>
                  <a:pt x="0" y="0"/>
                </a:moveTo>
                <a:lnTo>
                  <a:pt x="3055270" y="0"/>
                </a:lnTo>
                <a:lnTo>
                  <a:pt x="3055270" y="1205443"/>
                </a:lnTo>
                <a:lnTo>
                  <a:pt x="0" y="1205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575019" y="444090"/>
            <a:ext cx="501619" cy="501619"/>
          </a:xfrm>
          <a:custGeom>
            <a:avLst/>
            <a:gdLst/>
            <a:ahLst/>
            <a:cxnLst/>
            <a:rect r="r" b="b" t="t" l="l"/>
            <a:pathLst>
              <a:path h="501619" w="501619">
                <a:moveTo>
                  <a:pt x="0" y="0"/>
                </a:moveTo>
                <a:lnTo>
                  <a:pt x="501619" y="0"/>
                </a:lnTo>
                <a:lnTo>
                  <a:pt x="501619" y="501620"/>
                </a:lnTo>
                <a:lnTo>
                  <a:pt x="0" y="501620"/>
                </a:lnTo>
                <a:lnTo>
                  <a:pt x="0" y="0"/>
                </a:lnTo>
                <a:close/>
              </a:path>
            </a:pathLst>
          </a:custGeom>
          <a:blipFill>
            <a:blip r:embed="rId6"/>
            <a:stretch>
              <a:fillRect l="0" t="0" r="0" b="0"/>
            </a:stretch>
          </a:blipFill>
        </p:spPr>
      </p:sp>
      <p:sp>
        <p:nvSpPr>
          <p:cNvPr name="Freeform 9" id="9"/>
          <p:cNvSpPr/>
          <p:nvPr/>
        </p:nvSpPr>
        <p:spPr>
          <a:xfrm flipH="false" flipV="false" rot="0">
            <a:off x="9144000" y="444090"/>
            <a:ext cx="501619" cy="501619"/>
          </a:xfrm>
          <a:custGeom>
            <a:avLst/>
            <a:gdLst/>
            <a:ahLst/>
            <a:cxnLst/>
            <a:rect r="r" b="b" t="t" l="l"/>
            <a:pathLst>
              <a:path h="501619" w="501619">
                <a:moveTo>
                  <a:pt x="0" y="0"/>
                </a:moveTo>
                <a:lnTo>
                  <a:pt x="501619" y="0"/>
                </a:lnTo>
                <a:lnTo>
                  <a:pt x="501619" y="501620"/>
                </a:lnTo>
                <a:lnTo>
                  <a:pt x="0" y="501620"/>
                </a:lnTo>
                <a:lnTo>
                  <a:pt x="0" y="0"/>
                </a:lnTo>
                <a:close/>
              </a:path>
            </a:pathLst>
          </a:custGeom>
          <a:blipFill>
            <a:blip r:embed="rId7"/>
            <a:stretch>
              <a:fillRect l="0" t="0" r="0" b="0"/>
            </a:stretch>
          </a:blipFill>
        </p:spPr>
      </p:sp>
      <p:sp>
        <p:nvSpPr>
          <p:cNvPr name="Freeform 10" id="10"/>
          <p:cNvSpPr/>
          <p:nvPr/>
        </p:nvSpPr>
        <p:spPr>
          <a:xfrm flipH="false" flipV="false" rot="0">
            <a:off x="248363" y="3342134"/>
            <a:ext cx="17791274" cy="3602733"/>
          </a:xfrm>
          <a:custGeom>
            <a:avLst/>
            <a:gdLst/>
            <a:ahLst/>
            <a:cxnLst/>
            <a:rect r="r" b="b" t="t" l="l"/>
            <a:pathLst>
              <a:path h="3602733" w="17791274">
                <a:moveTo>
                  <a:pt x="0" y="0"/>
                </a:moveTo>
                <a:lnTo>
                  <a:pt x="17791274" y="0"/>
                </a:lnTo>
                <a:lnTo>
                  <a:pt x="17791274" y="3602732"/>
                </a:lnTo>
                <a:lnTo>
                  <a:pt x="0" y="3602732"/>
                </a:lnTo>
                <a:lnTo>
                  <a:pt x="0" y="0"/>
                </a:lnTo>
                <a:close/>
              </a:path>
            </a:pathLst>
          </a:custGeom>
          <a:blipFill>
            <a:blip r:embed="rId8"/>
            <a:stretch>
              <a:fillRect l="0" t="0" r="0" b="0"/>
            </a:stretch>
          </a:blipFill>
        </p:spPr>
      </p:sp>
      <p:sp>
        <p:nvSpPr>
          <p:cNvPr name="TextBox 11" id="11"/>
          <p:cNvSpPr txBox="true"/>
          <p:nvPr/>
        </p:nvSpPr>
        <p:spPr>
          <a:xfrm rot="0">
            <a:off x="14563495" y="441923"/>
            <a:ext cx="2695805" cy="339725"/>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12" id="12"/>
          <p:cNvSpPr txBox="true"/>
          <p:nvPr/>
        </p:nvSpPr>
        <p:spPr>
          <a:xfrm rot="0">
            <a:off x="1028700" y="441923"/>
            <a:ext cx="3098353" cy="339725"/>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spTree>
  </p:cSld>
  <p:clrMapOvr>
    <a:masterClrMapping/>
  </p:clrMapOvr>
  <p:transition spd="slow">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2EFEB"/>
        </a:solidFill>
      </p:bgPr>
    </p:bg>
    <p:spTree>
      <p:nvGrpSpPr>
        <p:cNvPr id="1" name=""/>
        <p:cNvGrpSpPr/>
        <p:nvPr/>
      </p:nvGrpSpPr>
      <p:grpSpPr>
        <a:xfrm>
          <a:off x="0" y="0"/>
          <a:ext cx="0" cy="0"/>
          <a:chOff x="0" y="0"/>
          <a:chExt cx="0" cy="0"/>
        </a:xfrm>
      </p:grpSpPr>
      <p:sp>
        <p:nvSpPr>
          <p:cNvPr name="Freeform 2" id="2"/>
          <p:cNvSpPr/>
          <p:nvPr/>
        </p:nvSpPr>
        <p:spPr>
          <a:xfrm flipH="false" flipV="true" rot="0">
            <a:off x="11738677" y="7317452"/>
            <a:ext cx="13744635" cy="8229600"/>
          </a:xfrm>
          <a:custGeom>
            <a:avLst/>
            <a:gdLst/>
            <a:ahLst/>
            <a:cxnLst/>
            <a:rect r="r" b="b" t="t" l="l"/>
            <a:pathLst>
              <a:path h="8229600" w="13744635">
                <a:moveTo>
                  <a:pt x="0" y="8229600"/>
                </a:moveTo>
                <a:lnTo>
                  <a:pt x="13744634" y="8229600"/>
                </a:lnTo>
                <a:lnTo>
                  <a:pt x="13744634" y="0"/>
                </a:lnTo>
                <a:lnTo>
                  <a:pt x="0" y="0"/>
                </a:lnTo>
                <a:lnTo>
                  <a:pt x="0" y="8229600"/>
                </a:lnTo>
                <a:close/>
              </a:path>
            </a:pathLst>
          </a:custGeom>
          <a:blipFill>
            <a:blip r:embed="rId2"/>
            <a:stretch>
              <a:fillRect l="0" t="0" r="0" b="0"/>
            </a:stretch>
          </a:blipFill>
        </p:spPr>
      </p:sp>
      <p:sp>
        <p:nvSpPr>
          <p:cNvPr name="Freeform 3" id="3"/>
          <p:cNvSpPr/>
          <p:nvPr/>
        </p:nvSpPr>
        <p:spPr>
          <a:xfrm flipH="false" flipV="false" rot="0">
            <a:off x="8657044" y="-4114800"/>
            <a:ext cx="13744635" cy="8229600"/>
          </a:xfrm>
          <a:custGeom>
            <a:avLst/>
            <a:gdLst/>
            <a:ahLst/>
            <a:cxnLst/>
            <a:rect r="r" b="b" t="t" l="l"/>
            <a:pathLst>
              <a:path h="8229600" w="13744635">
                <a:moveTo>
                  <a:pt x="0" y="0"/>
                </a:moveTo>
                <a:lnTo>
                  <a:pt x="13744635" y="0"/>
                </a:lnTo>
                <a:lnTo>
                  <a:pt x="13744635" y="8229600"/>
                </a:lnTo>
                <a:lnTo>
                  <a:pt x="0" y="8229600"/>
                </a:lnTo>
                <a:lnTo>
                  <a:pt x="0" y="0"/>
                </a:lnTo>
                <a:close/>
              </a:path>
            </a:pathLst>
          </a:custGeom>
          <a:blipFill>
            <a:blip r:embed="rId2"/>
            <a:stretch>
              <a:fillRect l="0" t="0" r="0" b="0"/>
            </a:stretch>
          </a:blipFill>
        </p:spPr>
      </p:sp>
      <p:grpSp>
        <p:nvGrpSpPr>
          <p:cNvPr name="Group 4" id="4"/>
          <p:cNvGrpSpPr/>
          <p:nvPr/>
        </p:nvGrpSpPr>
        <p:grpSpPr>
          <a:xfrm rot="0">
            <a:off x="1844534" y="3734563"/>
            <a:ext cx="14598932" cy="2817873"/>
            <a:chOff x="0" y="0"/>
            <a:chExt cx="19465242" cy="3757164"/>
          </a:xfrm>
        </p:grpSpPr>
        <p:sp>
          <p:nvSpPr>
            <p:cNvPr name="TextBox 5" id="5"/>
            <p:cNvSpPr txBox="true"/>
            <p:nvPr/>
          </p:nvSpPr>
          <p:spPr>
            <a:xfrm rot="0">
              <a:off x="0" y="-352425"/>
              <a:ext cx="10379438" cy="4109589"/>
            </a:xfrm>
            <a:prstGeom prst="rect">
              <a:avLst/>
            </a:prstGeom>
          </p:spPr>
          <p:txBody>
            <a:bodyPr anchor="t" rtlCol="false" tIns="0" lIns="0" bIns="0" rIns="0">
              <a:spAutoFit/>
            </a:bodyPr>
            <a:lstStyle/>
            <a:p>
              <a:pPr algn="l">
                <a:lnSpc>
                  <a:spcPts val="26040"/>
                </a:lnSpc>
                <a:spcBef>
                  <a:spcPct val="0"/>
                </a:spcBef>
              </a:pPr>
              <a:r>
                <a:rPr lang="en-US" b="true" sz="18600">
                  <a:solidFill>
                    <a:srgbClr val="0054C5"/>
                  </a:solidFill>
                  <a:latin typeface="Cerebri Bold"/>
                  <a:ea typeface="Cerebri Bold"/>
                  <a:cs typeface="Cerebri Bold"/>
                  <a:sym typeface="Cerebri Bold"/>
                </a:rPr>
                <a:t>Terima</a:t>
              </a:r>
            </a:p>
          </p:txBody>
        </p:sp>
        <p:sp>
          <p:nvSpPr>
            <p:cNvPr name="TextBox 6" id="6"/>
            <p:cNvSpPr txBox="true"/>
            <p:nvPr/>
          </p:nvSpPr>
          <p:spPr>
            <a:xfrm rot="0">
              <a:off x="10379438" y="-352425"/>
              <a:ext cx="9085804" cy="4109589"/>
            </a:xfrm>
            <a:prstGeom prst="rect">
              <a:avLst/>
            </a:prstGeom>
          </p:spPr>
          <p:txBody>
            <a:bodyPr anchor="t" rtlCol="false" tIns="0" lIns="0" bIns="0" rIns="0">
              <a:spAutoFit/>
            </a:bodyPr>
            <a:lstStyle/>
            <a:p>
              <a:pPr algn="l">
                <a:lnSpc>
                  <a:spcPts val="26040"/>
                </a:lnSpc>
                <a:spcBef>
                  <a:spcPct val="0"/>
                </a:spcBef>
              </a:pPr>
              <a:r>
                <a:rPr lang="en-US" b="true" sz="18600">
                  <a:solidFill>
                    <a:srgbClr val="39352C"/>
                  </a:solidFill>
                  <a:latin typeface="Cerebri Bold"/>
                  <a:ea typeface="Cerebri Bold"/>
                  <a:cs typeface="Cerebri Bold"/>
                  <a:sym typeface="Cerebri Bold"/>
                </a:rPr>
                <a:t>Kasih</a:t>
              </a:r>
            </a:p>
          </p:txBody>
        </p:sp>
      </p:grpSp>
      <p:sp>
        <p:nvSpPr>
          <p:cNvPr name="AutoShape 7" id="7"/>
          <p:cNvSpPr/>
          <p:nvPr/>
        </p:nvSpPr>
        <p:spPr>
          <a:xfrm>
            <a:off x="4127053" y="630835"/>
            <a:ext cx="10436442" cy="0"/>
          </a:xfrm>
          <a:prstGeom prst="line">
            <a:avLst/>
          </a:prstGeom>
          <a:ln cap="flat" w="19050">
            <a:solidFill>
              <a:srgbClr val="39352C"/>
            </a:solidFill>
            <a:prstDash val="solid"/>
            <a:headEnd type="none" len="sm" w="sm"/>
            <a:tailEnd type="none" len="sm" w="sm"/>
          </a:ln>
        </p:spPr>
      </p:sp>
      <p:sp>
        <p:nvSpPr>
          <p:cNvPr name="TextBox 8" id="8"/>
          <p:cNvSpPr txBox="true"/>
          <p:nvPr/>
        </p:nvSpPr>
        <p:spPr>
          <a:xfrm rot="0">
            <a:off x="14563495" y="441923"/>
            <a:ext cx="2695805" cy="339725"/>
          </a:xfrm>
          <a:prstGeom prst="rect">
            <a:avLst/>
          </a:prstGeom>
        </p:spPr>
        <p:txBody>
          <a:bodyPr anchor="t" rtlCol="false" tIns="0" lIns="0" bIns="0" rIns="0">
            <a:spAutoFit/>
          </a:bodyPr>
          <a:lstStyle/>
          <a:p>
            <a:pPr algn="r">
              <a:lnSpc>
                <a:spcPts val="2800"/>
              </a:lnSpc>
              <a:spcBef>
                <a:spcPct val="0"/>
              </a:spcBef>
            </a:pPr>
            <a:r>
              <a:rPr lang="en-US" sz="2000" spc="60">
                <a:solidFill>
                  <a:srgbClr val="39352C"/>
                </a:solidFill>
                <a:latin typeface="Cerebri"/>
                <a:ea typeface="Cerebri"/>
                <a:cs typeface="Cerebri"/>
                <a:sym typeface="Cerebri"/>
              </a:rPr>
              <a:t>15 DESEMBER 2025</a:t>
            </a:r>
          </a:p>
        </p:txBody>
      </p:sp>
      <p:sp>
        <p:nvSpPr>
          <p:cNvPr name="TextBox 9" id="9"/>
          <p:cNvSpPr txBox="true"/>
          <p:nvPr/>
        </p:nvSpPr>
        <p:spPr>
          <a:xfrm rot="0">
            <a:off x="1028700" y="441923"/>
            <a:ext cx="3098353" cy="339725"/>
          </a:xfrm>
          <a:prstGeom prst="rect">
            <a:avLst/>
          </a:prstGeom>
        </p:spPr>
        <p:txBody>
          <a:bodyPr anchor="t" rtlCol="false" tIns="0" lIns="0" bIns="0" rIns="0">
            <a:spAutoFit/>
          </a:bodyPr>
          <a:lstStyle/>
          <a:p>
            <a:pPr algn="l">
              <a:lnSpc>
                <a:spcPts val="2800"/>
              </a:lnSpc>
              <a:spcBef>
                <a:spcPct val="0"/>
              </a:spcBef>
            </a:pPr>
            <a:r>
              <a:rPr lang="en-US" sz="2000" spc="60">
                <a:solidFill>
                  <a:srgbClr val="39352C"/>
                </a:solidFill>
                <a:latin typeface="Cerebri"/>
                <a:ea typeface="Cerebri"/>
                <a:cs typeface="Cerebri"/>
                <a:sym typeface="Cerebri"/>
              </a:rPr>
              <a:t>TEKNIK INFORMATIKA</a:t>
            </a:r>
          </a:p>
        </p:txBody>
      </p:sp>
      <p:grpSp>
        <p:nvGrpSpPr>
          <p:cNvPr name="Group 10" id="10"/>
          <p:cNvGrpSpPr/>
          <p:nvPr/>
        </p:nvGrpSpPr>
        <p:grpSpPr>
          <a:xfrm rot="0">
            <a:off x="7616365" y="28114"/>
            <a:ext cx="3055270" cy="1205443"/>
            <a:chOff x="0" y="0"/>
            <a:chExt cx="4073693" cy="1607257"/>
          </a:xfrm>
        </p:grpSpPr>
        <p:sp>
          <p:nvSpPr>
            <p:cNvPr name="Freeform 11" id="11"/>
            <p:cNvSpPr/>
            <p:nvPr/>
          </p:nvSpPr>
          <p:spPr>
            <a:xfrm flipH="false" flipV="false" rot="0">
              <a:off x="0" y="0"/>
              <a:ext cx="4073693" cy="1607257"/>
            </a:xfrm>
            <a:custGeom>
              <a:avLst/>
              <a:gdLst/>
              <a:ahLst/>
              <a:cxnLst/>
              <a:rect r="r" b="b" t="t" l="l"/>
              <a:pathLst>
                <a:path h="1607257" w="4073693">
                  <a:moveTo>
                    <a:pt x="0" y="0"/>
                  </a:moveTo>
                  <a:lnTo>
                    <a:pt x="4073693" y="0"/>
                  </a:lnTo>
                  <a:lnTo>
                    <a:pt x="4073693" y="1607257"/>
                  </a:lnTo>
                  <a:lnTo>
                    <a:pt x="0" y="16072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278205"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5"/>
              <a:stretch>
                <a:fillRect l="0" t="0" r="0" b="0"/>
              </a:stretch>
            </a:blipFill>
          </p:spPr>
        </p:sp>
        <p:sp>
          <p:nvSpPr>
            <p:cNvPr name="Freeform 13" id="13"/>
            <p:cNvSpPr/>
            <p:nvPr/>
          </p:nvSpPr>
          <p:spPr>
            <a:xfrm flipH="false" flipV="false" rot="0">
              <a:off x="2036847" y="554635"/>
              <a:ext cx="668826" cy="668826"/>
            </a:xfrm>
            <a:custGeom>
              <a:avLst/>
              <a:gdLst/>
              <a:ahLst/>
              <a:cxnLst/>
              <a:rect r="r" b="b" t="t" l="l"/>
              <a:pathLst>
                <a:path h="668826" w="668826">
                  <a:moveTo>
                    <a:pt x="0" y="0"/>
                  </a:moveTo>
                  <a:lnTo>
                    <a:pt x="668826" y="0"/>
                  </a:lnTo>
                  <a:lnTo>
                    <a:pt x="668826" y="668826"/>
                  </a:lnTo>
                  <a:lnTo>
                    <a:pt x="0" y="668826"/>
                  </a:lnTo>
                  <a:lnTo>
                    <a:pt x="0" y="0"/>
                  </a:lnTo>
                  <a:close/>
                </a:path>
              </a:pathLst>
            </a:custGeom>
            <a:blipFill>
              <a:blip r:embed="rId6"/>
              <a:stretch>
                <a:fillRect l="0" t="0" r="0" b="0"/>
              </a:stretch>
            </a:blipFill>
          </p:spPr>
        </p:sp>
      </p:grpSp>
      <p:grpSp>
        <p:nvGrpSpPr>
          <p:cNvPr name="Group 14" id="14"/>
          <p:cNvGrpSpPr/>
          <p:nvPr/>
        </p:nvGrpSpPr>
        <p:grpSpPr>
          <a:xfrm rot="0">
            <a:off x="6241714" y="6597978"/>
            <a:ext cx="5804572" cy="673933"/>
            <a:chOff x="0" y="0"/>
            <a:chExt cx="7739429" cy="898577"/>
          </a:xfrm>
        </p:grpSpPr>
        <p:grpSp>
          <p:nvGrpSpPr>
            <p:cNvPr name="Group 15" id="15"/>
            <p:cNvGrpSpPr/>
            <p:nvPr/>
          </p:nvGrpSpPr>
          <p:grpSpPr>
            <a:xfrm rot="0">
              <a:off x="440956" y="0"/>
              <a:ext cx="7298474" cy="898577"/>
              <a:chOff x="0" y="0"/>
              <a:chExt cx="1441674" cy="177497"/>
            </a:xfrm>
          </p:grpSpPr>
          <p:sp>
            <p:nvSpPr>
              <p:cNvPr name="Freeform 16" id="16"/>
              <p:cNvSpPr/>
              <p:nvPr/>
            </p:nvSpPr>
            <p:spPr>
              <a:xfrm flipH="false" flipV="false" rot="0">
                <a:off x="0" y="0"/>
                <a:ext cx="1441674" cy="177497"/>
              </a:xfrm>
              <a:custGeom>
                <a:avLst/>
                <a:gdLst/>
                <a:ahLst/>
                <a:cxnLst/>
                <a:rect r="r" b="b" t="t" l="l"/>
                <a:pathLst>
                  <a:path h="177497" w="1441674">
                    <a:moveTo>
                      <a:pt x="42430" y="0"/>
                    </a:moveTo>
                    <a:lnTo>
                      <a:pt x="1399243" y="0"/>
                    </a:lnTo>
                    <a:cubicBezTo>
                      <a:pt x="1422677" y="0"/>
                      <a:pt x="1441674" y="18997"/>
                      <a:pt x="1441674" y="42430"/>
                    </a:cubicBezTo>
                    <a:lnTo>
                      <a:pt x="1441674" y="135066"/>
                    </a:lnTo>
                    <a:cubicBezTo>
                      <a:pt x="1441674" y="146320"/>
                      <a:pt x="1437203" y="157112"/>
                      <a:pt x="1429246" y="165069"/>
                    </a:cubicBezTo>
                    <a:cubicBezTo>
                      <a:pt x="1421289" y="173026"/>
                      <a:pt x="1410497" y="177497"/>
                      <a:pt x="1399243" y="177497"/>
                    </a:cubicBezTo>
                    <a:lnTo>
                      <a:pt x="42430" y="177497"/>
                    </a:lnTo>
                    <a:cubicBezTo>
                      <a:pt x="31177" y="177497"/>
                      <a:pt x="20385" y="173026"/>
                      <a:pt x="12428" y="165069"/>
                    </a:cubicBezTo>
                    <a:cubicBezTo>
                      <a:pt x="4470" y="157112"/>
                      <a:pt x="0" y="146320"/>
                      <a:pt x="0" y="135066"/>
                    </a:cubicBezTo>
                    <a:lnTo>
                      <a:pt x="0" y="42430"/>
                    </a:lnTo>
                    <a:cubicBezTo>
                      <a:pt x="0" y="18997"/>
                      <a:pt x="18997" y="0"/>
                      <a:pt x="42430" y="0"/>
                    </a:cubicBezTo>
                    <a:close/>
                  </a:path>
                </a:pathLst>
              </a:custGeom>
              <a:solidFill>
                <a:srgbClr val="000000">
                  <a:alpha val="0"/>
                </a:srgbClr>
              </a:solidFill>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17" id="17"/>
              <p:cNvSpPr txBox="true"/>
              <p:nvPr/>
            </p:nvSpPr>
            <p:spPr>
              <a:xfrm>
                <a:off x="0" y="-38100"/>
                <a:ext cx="1441674" cy="215597"/>
              </a:xfrm>
              <a:prstGeom prst="rect">
                <a:avLst/>
              </a:prstGeom>
            </p:spPr>
            <p:txBody>
              <a:bodyPr anchor="ctr" rtlCol="false" tIns="50800" lIns="50800" bIns="50800" rIns="50800"/>
              <a:lstStyle/>
              <a:p>
                <a:pPr algn="ctr">
                  <a:lnSpc>
                    <a:spcPts val="3359"/>
                  </a:lnSpc>
                </a:pPr>
                <a:r>
                  <a:rPr lang="en-US" sz="2400">
                    <a:solidFill>
                      <a:srgbClr val="39352C"/>
                    </a:solidFill>
                    <a:latin typeface="Cerebri"/>
                    <a:ea typeface="Cerebri"/>
                    <a:cs typeface="Cerebri"/>
                    <a:sym typeface="Cerebri"/>
                  </a:rPr>
                  <a:t>Fathan Andi Kartagama (122140055)</a:t>
                </a:r>
              </a:p>
            </p:txBody>
          </p:sp>
        </p:grpSp>
        <p:grpSp>
          <p:nvGrpSpPr>
            <p:cNvPr name="Group 18" id="18"/>
            <p:cNvGrpSpPr/>
            <p:nvPr/>
          </p:nvGrpSpPr>
          <p:grpSpPr>
            <a:xfrm rot="0">
              <a:off x="0" y="308512"/>
              <a:ext cx="281554" cy="281554"/>
              <a:chOff x="0" y="0"/>
              <a:chExt cx="55616" cy="55616"/>
            </a:xfrm>
          </p:grpSpPr>
          <p:sp>
            <p:nvSpPr>
              <p:cNvPr name="Freeform 19" id="19"/>
              <p:cNvSpPr/>
              <p:nvPr/>
            </p:nvSpPr>
            <p:spPr>
              <a:xfrm flipH="false" flipV="false" rot="0">
                <a:off x="0" y="0"/>
                <a:ext cx="55616" cy="55616"/>
              </a:xfrm>
              <a:custGeom>
                <a:avLst/>
                <a:gdLst/>
                <a:ahLst/>
                <a:cxnLst/>
                <a:rect r="r" b="b" t="t" l="l"/>
                <a:pathLst>
                  <a:path h="55616" w="55616">
                    <a:moveTo>
                      <a:pt x="0" y="0"/>
                    </a:moveTo>
                    <a:lnTo>
                      <a:pt x="55616" y="0"/>
                    </a:lnTo>
                    <a:lnTo>
                      <a:pt x="55616" y="55616"/>
                    </a:lnTo>
                    <a:lnTo>
                      <a:pt x="0" y="55616"/>
                    </a:lnTo>
                    <a:close/>
                  </a:path>
                </a:pathLst>
              </a:custGeom>
              <a:solidFill>
                <a:srgbClr val="0054C5"/>
              </a:solidFill>
            </p:spPr>
          </p:sp>
          <p:sp>
            <p:nvSpPr>
              <p:cNvPr name="TextBox 20" id="20"/>
              <p:cNvSpPr txBox="true"/>
              <p:nvPr/>
            </p:nvSpPr>
            <p:spPr>
              <a:xfrm>
                <a:off x="0" y="-38100"/>
                <a:ext cx="55616" cy="93716"/>
              </a:xfrm>
              <a:prstGeom prst="rect">
                <a:avLst/>
              </a:prstGeom>
            </p:spPr>
            <p:txBody>
              <a:bodyPr anchor="ctr" rtlCol="false" tIns="50800" lIns="50800" bIns="50800" rIns="50800"/>
              <a:lstStyle/>
              <a:p>
                <a:pPr algn="ctr">
                  <a:lnSpc>
                    <a:spcPts val="3359"/>
                  </a:lnSpc>
                </a:pPr>
              </a:p>
            </p:txBody>
          </p:sp>
        </p:grpSp>
      </p:grpSp>
      <p:sp>
        <p:nvSpPr>
          <p:cNvPr name="Freeform 21" id="21"/>
          <p:cNvSpPr/>
          <p:nvPr/>
        </p:nvSpPr>
        <p:spPr>
          <a:xfrm flipH="false" flipV="false" rot="0">
            <a:off x="-6036856" y="6045200"/>
            <a:ext cx="13744635" cy="8229600"/>
          </a:xfrm>
          <a:custGeom>
            <a:avLst/>
            <a:gdLst/>
            <a:ahLst/>
            <a:cxnLst/>
            <a:rect r="r" b="b" t="t" l="l"/>
            <a:pathLst>
              <a:path h="8229600" w="13744635">
                <a:moveTo>
                  <a:pt x="0" y="0"/>
                </a:moveTo>
                <a:lnTo>
                  <a:pt x="13744635" y="0"/>
                </a:lnTo>
                <a:lnTo>
                  <a:pt x="13744635" y="8229600"/>
                </a:lnTo>
                <a:lnTo>
                  <a:pt x="0" y="8229600"/>
                </a:lnTo>
                <a:lnTo>
                  <a:pt x="0" y="0"/>
                </a:lnTo>
                <a:close/>
              </a:path>
            </a:pathLst>
          </a:custGeom>
          <a:blipFill>
            <a:blip r:embed="rId2"/>
            <a:stretch>
              <a:fillRect l="0" t="0" r="0" b="0"/>
            </a:stretch>
          </a:blipFill>
        </p:spPr>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DAG6zbR2F8Q</dc:identifier>
  <dcterms:modified xsi:type="dcterms:W3CDTF">2011-08-01T06:04:30Z</dcterms:modified>
  <cp:revision>1</cp:revision>
  <dc:title>PPT Proposal</dc:title>
</cp:coreProperties>
</file>